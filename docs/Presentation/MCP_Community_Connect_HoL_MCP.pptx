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8" r:id="rId3"/>
    <p:sldId id="261" r:id="rId4"/>
    <p:sldId id="263" r:id="rId5"/>
    <p:sldId id="264" r:id="rId6"/>
    <p:sldId id="265" r:id="rId7"/>
    <p:sldId id="267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1914" y="8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89916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CP_DARK">
    <p:bg>
      <p:bgPr>
        <a:solidFill>
          <a:srgbClr val="1E22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24E"/>
          </a:solidFill>
          <a:ln w="12700">
            <a:solidFill>
              <a:srgbClr val="1E224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11480" y="6446520"/>
            <a:ext cx="11365992" cy="0"/>
          </a:xfrm>
          <a:prstGeom prst="line">
            <a:avLst/>
          </a:prstGeom>
          <a:noFill/>
          <a:ln w="13970">
            <a:solidFill>
              <a:srgbClr val="39C6D8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75488" y="6473952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40" dirty="0">
                <a:solidFill>
                  <a:srgbClr val="7ED9E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MCP COMMUNITY CONNECT · BENGALURU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9738360" y="647395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110" dirty="0">
                <a:solidFill>
                  <a:srgbClr val="AAB7D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26 SEPTEMBER 2026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77472" y="645566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AAB7D8"/>
                </a:solidFill>
                <a:latin typeface="Carlito"/>
                <a:ea typeface="Carlito"/>
                <a:cs typeface="Carlito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77472" y="645566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AAB7D8"/>
                </a:solidFill>
                <a:latin typeface="Carlito"/>
                <a:ea typeface="Carlito"/>
                <a:cs typeface="Carlito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GlobalAICommunity/mcp-fl-workshop" TargetMode="External"/><Relationship Id="rId5" Type="http://schemas.openxmlformats.org/officeDocument/2006/relationships/hyperlink" Target="https://modelcontextprotocol.io/" TargetMode="External"/><Relationship Id="rId4" Type="http://schemas.openxmlformats.org/officeDocument/2006/relationships/hyperlink" Target="https://aka.ms/mcp-for-beginner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21937" y="-1965960"/>
            <a:ext cx="3383280" cy="3383280"/>
          </a:xfrm>
          <a:prstGeom prst="ellipse">
            <a:avLst/>
          </a:prstGeom>
          <a:solidFill>
            <a:srgbClr val="1E224E">
              <a:alpha val="0"/>
            </a:srgbClr>
          </a:solidFill>
          <a:ln w="16510">
            <a:solidFill>
              <a:srgbClr val="39C6D8">
                <a:alpha val="3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724857" y="-1481328"/>
            <a:ext cx="2423160" cy="2423160"/>
          </a:xfrm>
          <a:prstGeom prst="ellipse">
            <a:avLst/>
          </a:prstGeom>
          <a:solidFill>
            <a:srgbClr val="1E224E">
              <a:alpha val="0"/>
            </a:srgbClr>
          </a:solidFill>
          <a:ln w="12700">
            <a:solidFill>
              <a:srgbClr val="2F78D8">
                <a:alpha val="4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109960" y="594360"/>
            <a:ext cx="73152" cy="73152"/>
          </a:xfrm>
          <a:prstGeom prst="ellipse">
            <a:avLst/>
          </a:prstGeom>
          <a:solidFill>
            <a:srgbClr val="68E1E8"/>
          </a:solidFill>
          <a:ln w="12700">
            <a:solidFill>
              <a:srgbClr val="68E1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384280" y="850392"/>
            <a:ext cx="45720" cy="45720"/>
          </a:xfrm>
          <a:prstGeom prst="ellipse">
            <a:avLst/>
          </a:prstGeom>
          <a:solidFill>
            <a:srgbClr val="39C6D8"/>
          </a:solidFill>
          <a:ln w="12700">
            <a:solidFill>
              <a:srgbClr val="39C6D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1631168" y="1106424"/>
            <a:ext cx="36576" cy="36576"/>
          </a:xfrm>
          <a:prstGeom prst="ellipse">
            <a:avLst/>
          </a:prstGeom>
          <a:solidFill>
            <a:srgbClr val="2F78D8"/>
          </a:solidFill>
          <a:ln w="12700">
            <a:solidFill>
              <a:srgbClr val="2F78D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-1371600" y="5166360"/>
            <a:ext cx="2926080" cy="2926080"/>
          </a:xfrm>
          <a:prstGeom prst="ellipse">
            <a:avLst/>
          </a:prstGeom>
          <a:solidFill>
            <a:srgbClr val="1E224E">
              <a:alpha val="0"/>
            </a:srgbClr>
          </a:solidFill>
          <a:ln w="12700">
            <a:solidFill>
              <a:srgbClr val="39C6D8">
                <a:alpha val="2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566928" y="576072"/>
            <a:ext cx="73152" cy="5166360"/>
          </a:xfrm>
          <a:prstGeom prst="rect">
            <a:avLst/>
          </a:prstGeom>
          <a:solidFill>
            <a:srgbClr val="39C6D8"/>
          </a:solidFill>
          <a:ln w="12700">
            <a:solidFill>
              <a:srgbClr val="39C6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0392" y="1234440"/>
            <a:ext cx="6812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800" b="1">
                <a:solidFill>
                  <a:srgbClr val="F8FB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Build MCP Agents Locally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877824" y="3154680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1600">
                <a:solidFill>
                  <a:srgbClr val="AAB7D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From protocol basics to a responsive offline agent in 90 minutes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877824" y="4160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40">
                <a:solidFill>
                  <a:srgbClr val="68E1E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HANDS-ON WORKSHOP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77824" y="44805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1400">
                <a:solidFill>
                  <a:srgbClr val="F8FB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FastMCP 4 | Foundry Local | Python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77824" y="50749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AB7D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MCP Community Connect Bengaluru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77824" y="537667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B7D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26 September 2026</a:t>
            </a:r>
            <a:endParaRPr lang="en-US" sz="1000" dirty="0"/>
          </a:p>
        </p:txBody>
      </p:sp>
      <p:pic>
        <p:nvPicPr>
          <p:cNvPr id="19" name="Image 1" descr="/mnt/data/bengaluru_skyline_in_cyan_line_art.png"/>
          <p:cNvPicPr>
            <a:picLocks noChangeAspect="1"/>
          </p:cNvPicPr>
          <p:nvPr/>
        </p:nvPicPr>
        <p:blipFill>
          <a:blip r:embed="rId3">
            <a:alphaModFix amt="25000"/>
          </a:blip>
          <a:stretch>
            <a:fillRect/>
          </a:stretch>
        </p:blipFill>
        <p:spPr>
          <a:xfrm>
            <a:off x="6858000" y="5230368"/>
            <a:ext cx="4892040" cy="1143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77472" y="645566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AAB7D8"/>
                </a:solidFill>
                <a:latin typeface="Carlito"/>
                <a:ea typeface="Carlito"/>
                <a:cs typeface="Carlito"/>
              </a:defRPr>
            </a:lvl1pPr>
          </a:lstStyle>
          <a:p>
            <a:pPr algn="l"/>
            <a:r>
              <a:rPr lang="en-US" b="0"/>
              <a:t>1</a:t>
            </a:r>
            <a:endParaRPr lang="en-US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918BD17-FC34-2986-89DE-2EF3764ACD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3515" y="1194757"/>
            <a:ext cx="3590661" cy="359066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143000"/>
            <a:ext cx="3383280" cy="3383280"/>
          </a:xfrm>
          <a:prstGeom prst="ellipse">
            <a:avLst/>
          </a:prstGeom>
          <a:solidFill>
            <a:srgbClr val="1E224E">
              <a:alpha val="0"/>
            </a:srgbClr>
          </a:solidFill>
          <a:ln w="16510">
            <a:solidFill>
              <a:srgbClr val="39C6D8">
                <a:alpha val="3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469880" y="-658368"/>
            <a:ext cx="2423160" cy="2423160"/>
          </a:xfrm>
          <a:prstGeom prst="ellipse">
            <a:avLst/>
          </a:prstGeom>
          <a:solidFill>
            <a:srgbClr val="1E224E">
              <a:alpha val="0"/>
            </a:srgbClr>
          </a:solidFill>
          <a:ln w="12700">
            <a:solidFill>
              <a:srgbClr val="2F78D8">
                <a:alpha val="4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109960" y="594360"/>
            <a:ext cx="73152" cy="73152"/>
          </a:xfrm>
          <a:prstGeom prst="ellipse">
            <a:avLst/>
          </a:prstGeom>
          <a:solidFill>
            <a:srgbClr val="68E1E8"/>
          </a:solidFill>
          <a:ln w="12700">
            <a:solidFill>
              <a:srgbClr val="68E1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384280" y="850392"/>
            <a:ext cx="45720" cy="45720"/>
          </a:xfrm>
          <a:prstGeom prst="ellipse">
            <a:avLst/>
          </a:prstGeom>
          <a:solidFill>
            <a:srgbClr val="39C6D8"/>
          </a:solidFill>
          <a:ln w="12700">
            <a:solidFill>
              <a:srgbClr val="39C6D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1631168" y="1106424"/>
            <a:ext cx="36576" cy="36576"/>
          </a:xfrm>
          <a:prstGeom prst="ellipse">
            <a:avLst/>
          </a:prstGeom>
          <a:solidFill>
            <a:srgbClr val="2F78D8"/>
          </a:solidFill>
          <a:ln w="12700">
            <a:solidFill>
              <a:srgbClr val="2F78D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-1371600" y="5166360"/>
            <a:ext cx="2926080" cy="2926080"/>
          </a:xfrm>
          <a:prstGeom prst="ellipse">
            <a:avLst/>
          </a:prstGeom>
          <a:solidFill>
            <a:srgbClr val="1E224E">
              <a:alpha val="0"/>
            </a:srgbClr>
          </a:solidFill>
          <a:ln w="12700">
            <a:solidFill>
              <a:srgbClr val="39C6D8">
                <a:alpha val="2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94360" y="868680"/>
            <a:ext cx="9966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F8FB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What you'll build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612648" y="1554480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1400">
                <a:solidFill>
                  <a:srgbClr val="AAB7D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 complete local path from protocol to browser.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58368" y="2331720"/>
            <a:ext cx="5074920" cy="1261872"/>
          </a:xfrm>
          <a:prstGeom prst="roundRect">
            <a:avLst>
              <a:gd name="adj" fmla="val 5797"/>
            </a:avLst>
          </a:prstGeom>
          <a:solidFill>
            <a:srgbClr val="29346C"/>
          </a:solidFill>
          <a:ln w="12700">
            <a:solidFill>
              <a:srgbClr val="3943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914400" y="2715768"/>
            <a:ext cx="438912" cy="438912"/>
          </a:xfrm>
          <a:prstGeom prst="ellipse">
            <a:avLst/>
          </a:prstGeom>
          <a:solidFill>
            <a:srgbClr val="68E1E8">
              <a:alpha val="15000"/>
            </a:srgbClr>
          </a:solidFill>
          <a:ln w="15240">
            <a:solidFill>
              <a:srgbClr val="68E1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914400" y="2798064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8E1E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01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536192" y="257860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F8FB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Protocol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1536192" y="297180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1150">
                <a:solidFill>
                  <a:srgbClr val="AAB7D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See MCP discovery, schemas, requests, results, and errors.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163056" y="2331720"/>
            <a:ext cx="5074920" cy="1261872"/>
          </a:xfrm>
          <a:prstGeom prst="roundRect">
            <a:avLst>
              <a:gd name="adj" fmla="val 5797"/>
            </a:avLst>
          </a:prstGeom>
          <a:solidFill>
            <a:srgbClr val="262C61"/>
          </a:solidFill>
          <a:ln w="12700">
            <a:solidFill>
              <a:srgbClr val="3943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6419088" y="2715768"/>
            <a:ext cx="438912" cy="438912"/>
          </a:xfrm>
          <a:prstGeom prst="ellipse">
            <a:avLst/>
          </a:prstGeom>
          <a:solidFill>
            <a:srgbClr val="39C6D8">
              <a:alpha val="15000"/>
            </a:srgbClr>
          </a:solidFill>
          <a:ln w="15240">
            <a:solidFill>
              <a:srgbClr val="39C6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6419088" y="2798064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9C6D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02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7040880" y="257860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F8FB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Server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7040880" y="297180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1150">
                <a:solidFill>
                  <a:srgbClr val="AAB7D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Publish typed tools, a resource, and a prompt with FastMCP.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658368" y="3904488"/>
            <a:ext cx="5074920" cy="1261872"/>
          </a:xfrm>
          <a:prstGeom prst="roundRect">
            <a:avLst>
              <a:gd name="adj" fmla="val 5797"/>
            </a:avLst>
          </a:prstGeom>
          <a:solidFill>
            <a:srgbClr val="262C61"/>
          </a:solidFill>
          <a:ln w="12700">
            <a:solidFill>
              <a:srgbClr val="3943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914400" y="4288536"/>
            <a:ext cx="438912" cy="438912"/>
          </a:xfrm>
          <a:prstGeom prst="ellipse">
            <a:avLst/>
          </a:prstGeom>
          <a:solidFill>
            <a:srgbClr val="39C6D8">
              <a:alpha val="15000"/>
            </a:srgbClr>
          </a:solidFill>
          <a:ln w="15240">
            <a:solidFill>
              <a:srgbClr val="39C6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914400" y="437083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9C6D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03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1536192" y="4151376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F8FB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Agent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1536192" y="4544568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1150">
                <a:solidFill>
                  <a:srgbClr val="AAB7D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Connect a small Foundry Local model to trusted tool data.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163056" y="3904488"/>
            <a:ext cx="5074920" cy="1261872"/>
          </a:xfrm>
          <a:prstGeom prst="roundRect">
            <a:avLst>
              <a:gd name="adj" fmla="val 5797"/>
            </a:avLst>
          </a:prstGeom>
          <a:solidFill>
            <a:srgbClr val="262C61"/>
          </a:solidFill>
          <a:ln w="12700">
            <a:solidFill>
              <a:srgbClr val="3943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8"/>
          <p:cNvSpPr/>
          <p:nvPr/>
        </p:nvSpPr>
        <p:spPr>
          <a:xfrm>
            <a:off x="6419088" y="4288536"/>
            <a:ext cx="438912" cy="438912"/>
          </a:xfrm>
          <a:prstGeom prst="ellipse">
            <a:avLst/>
          </a:prstGeom>
          <a:solidFill>
            <a:srgbClr val="39C6D8">
              <a:alpha val="15000"/>
            </a:srgbClr>
          </a:solidFill>
          <a:ln w="15240">
            <a:solidFill>
              <a:srgbClr val="39C6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6419088" y="437083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9C6D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04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040880" y="4151376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F8FB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Controls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7040880" y="4544568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1150">
                <a:solidFill>
                  <a:srgbClr val="AAB7D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Add validation, approval, limits, and production boundaries.</a:t>
            </a:r>
            <a:endParaRPr lang="en-US" sz="115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77472" y="645566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AAB7D8"/>
                </a:solidFill>
                <a:latin typeface="Carlito"/>
                <a:ea typeface="Carlito"/>
                <a:cs typeface="Carlito"/>
              </a:defRPr>
            </a:lvl1pPr>
          </a:lstStyle>
          <a:p>
            <a:pPr algn="l"/>
            <a:r>
              <a:rPr lang="en-US" b="0"/>
              <a:t>2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143000"/>
            <a:ext cx="3383280" cy="3383280"/>
          </a:xfrm>
          <a:prstGeom prst="ellipse">
            <a:avLst/>
          </a:prstGeom>
          <a:solidFill>
            <a:srgbClr val="1E224E">
              <a:alpha val="0"/>
            </a:srgbClr>
          </a:solidFill>
          <a:ln w="16510">
            <a:solidFill>
              <a:srgbClr val="39C6D8">
                <a:alpha val="3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469880" y="-658368"/>
            <a:ext cx="2423160" cy="2423160"/>
          </a:xfrm>
          <a:prstGeom prst="ellipse">
            <a:avLst/>
          </a:prstGeom>
          <a:solidFill>
            <a:srgbClr val="1E224E">
              <a:alpha val="0"/>
            </a:srgbClr>
          </a:solidFill>
          <a:ln w="12700">
            <a:solidFill>
              <a:srgbClr val="2F78D8">
                <a:alpha val="4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109960" y="594360"/>
            <a:ext cx="73152" cy="73152"/>
          </a:xfrm>
          <a:prstGeom prst="ellipse">
            <a:avLst/>
          </a:prstGeom>
          <a:solidFill>
            <a:srgbClr val="68E1E8"/>
          </a:solidFill>
          <a:ln w="12700">
            <a:solidFill>
              <a:srgbClr val="68E1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384280" y="850392"/>
            <a:ext cx="45720" cy="45720"/>
          </a:xfrm>
          <a:prstGeom prst="ellipse">
            <a:avLst/>
          </a:prstGeom>
          <a:solidFill>
            <a:srgbClr val="39C6D8"/>
          </a:solidFill>
          <a:ln w="12700">
            <a:solidFill>
              <a:srgbClr val="39C6D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1631168" y="1106424"/>
            <a:ext cx="36576" cy="36576"/>
          </a:xfrm>
          <a:prstGeom prst="ellipse">
            <a:avLst/>
          </a:prstGeom>
          <a:solidFill>
            <a:srgbClr val="2F78D8"/>
          </a:solidFill>
          <a:ln w="12700">
            <a:solidFill>
              <a:srgbClr val="2F78D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-1371600" y="5166360"/>
            <a:ext cx="2926080" cy="2926080"/>
          </a:xfrm>
          <a:prstGeom prst="ellipse">
            <a:avLst/>
          </a:prstGeom>
          <a:solidFill>
            <a:srgbClr val="1E224E">
              <a:alpha val="0"/>
            </a:srgbClr>
          </a:solidFill>
          <a:ln w="12700">
            <a:solidFill>
              <a:srgbClr val="39C6D8">
                <a:alpha val="2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594360" y="50292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39C6D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WHY MCP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94360" y="868680"/>
            <a:ext cx="9966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2800" b="1">
                <a:solidFill>
                  <a:srgbClr val="F8FB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Replace custom glue with a shared protocol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612648" y="1554480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1400">
                <a:solidFill>
                  <a:srgbClr val="AAB7D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Hosts and services integrate once around discoverable, typed capabilities.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58368" y="2331720"/>
            <a:ext cx="5230368" cy="3611880"/>
          </a:xfrm>
          <a:prstGeom prst="roundRect">
            <a:avLst>
              <a:gd name="adj" fmla="val 2025"/>
            </a:avLst>
          </a:prstGeom>
          <a:solidFill>
            <a:srgbClr val="202654"/>
          </a:solidFill>
          <a:ln w="20320">
            <a:solidFill>
              <a:srgbClr val="2F78D8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978408" y="2651760"/>
            <a:ext cx="1417320" cy="347472"/>
          </a:xfrm>
          <a:prstGeom prst="roundRect">
            <a:avLst>
              <a:gd name="adj" fmla="val 21053"/>
            </a:avLst>
          </a:prstGeom>
          <a:solidFill>
            <a:srgbClr val="282E66"/>
          </a:solidFill>
          <a:ln w="12700">
            <a:solidFill>
              <a:srgbClr val="282E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1106424" y="2724912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10">
                <a:solidFill>
                  <a:srgbClr val="2F78D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WITHOUT MCP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978408" y="318211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8FB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Custom integrations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1005840" y="3977640"/>
            <a:ext cx="118872" cy="118872"/>
          </a:xfrm>
          <a:prstGeom prst="ellipse">
            <a:avLst/>
          </a:prstGeom>
          <a:solidFill>
            <a:srgbClr val="2F78D8"/>
          </a:solidFill>
          <a:ln w="12700">
            <a:solidFill>
              <a:srgbClr val="2F78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1280160" y="3895344"/>
            <a:ext cx="3931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AAB7D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One adapter per service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1005840" y="4462272"/>
            <a:ext cx="118872" cy="118872"/>
          </a:xfrm>
          <a:prstGeom prst="ellipse">
            <a:avLst/>
          </a:prstGeom>
          <a:solidFill>
            <a:srgbClr val="2F78D8"/>
          </a:solidFill>
          <a:ln w="12700">
            <a:solidFill>
              <a:srgbClr val="2F78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1280160" y="4379976"/>
            <a:ext cx="3931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AAB7D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Schemas drift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1005840" y="4946904"/>
            <a:ext cx="118872" cy="118872"/>
          </a:xfrm>
          <a:prstGeom prst="ellipse">
            <a:avLst/>
          </a:prstGeom>
          <a:solidFill>
            <a:srgbClr val="2F78D8"/>
          </a:solidFill>
          <a:ln w="12700">
            <a:solidFill>
              <a:srgbClr val="2F78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1280160" y="4864608"/>
            <a:ext cx="3931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AAB7D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Controls are duplicated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6291072" y="2331720"/>
            <a:ext cx="5230368" cy="3611880"/>
          </a:xfrm>
          <a:prstGeom prst="roundRect">
            <a:avLst>
              <a:gd name="adj" fmla="val 2025"/>
            </a:avLst>
          </a:prstGeom>
          <a:solidFill>
            <a:srgbClr val="202654"/>
          </a:solidFill>
          <a:ln w="20320">
            <a:solidFill>
              <a:srgbClr val="39C6D8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6611112" y="2651760"/>
            <a:ext cx="1417320" cy="347472"/>
          </a:xfrm>
          <a:prstGeom prst="roundRect">
            <a:avLst>
              <a:gd name="adj" fmla="val 21053"/>
            </a:avLst>
          </a:prstGeom>
          <a:solidFill>
            <a:srgbClr val="282E66"/>
          </a:solidFill>
          <a:ln w="12700">
            <a:solidFill>
              <a:srgbClr val="282E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6739128" y="2724912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10">
                <a:solidFill>
                  <a:srgbClr val="39C6D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WITH MCP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6611112" y="318211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8FB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Shared contract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6638544" y="3977640"/>
            <a:ext cx="118872" cy="118872"/>
          </a:xfrm>
          <a:prstGeom prst="ellipse">
            <a:avLst/>
          </a:prstGeom>
          <a:solidFill>
            <a:srgbClr val="39C6D8"/>
          </a:solidFill>
          <a:ln w="12700">
            <a:solidFill>
              <a:srgbClr val="39C6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6912864" y="3895344"/>
            <a:ext cx="3931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AAB7D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Discoverable tools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6638544" y="4462272"/>
            <a:ext cx="118872" cy="118872"/>
          </a:xfrm>
          <a:prstGeom prst="ellipse">
            <a:avLst/>
          </a:prstGeom>
          <a:solidFill>
            <a:srgbClr val="39C6D8"/>
          </a:solidFill>
          <a:ln w="12700">
            <a:solidFill>
              <a:srgbClr val="39C6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6912864" y="4379976"/>
            <a:ext cx="3931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AAB7D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Typed inputs and outputs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638544" y="4946904"/>
            <a:ext cx="118872" cy="118872"/>
          </a:xfrm>
          <a:prstGeom prst="ellipse">
            <a:avLst/>
          </a:prstGeom>
          <a:solidFill>
            <a:srgbClr val="39C6D8"/>
          </a:solidFill>
          <a:ln w="12700">
            <a:solidFill>
              <a:srgbClr val="39C6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6912864" y="4864608"/>
            <a:ext cx="3931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AAB7D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Reusable hosts and servers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5705856" y="3685032"/>
            <a:ext cx="75895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8E1E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VS</a:t>
            </a:r>
            <a:endParaRPr lang="en-US" sz="16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77472" y="645566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AAB7D8"/>
                </a:solidFill>
                <a:latin typeface="Carlito"/>
                <a:ea typeface="Carlito"/>
                <a:cs typeface="Carlito"/>
              </a:defRPr>
            </a:lvl1pPr>
          </a:lstStyle>
          <a:p>
            <a:pPr algn="l"/>
            <a:r>
              <a:rPr lang="en-US" b="0"/>
              <a:t>3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143000"/>
            <a:ext cx="3383280" cy="3383280"/>
          </a:xfrm>
          <a:prstGeom prst="ellipse">
            <a:avLst/>
          </a:prstGeom>
          <a:solidFill>
            <a:srgbClr val="1E224E">
              <a:alpha val="0"/>
            </a:srgbClr>
          </a:solidFill>
          <a:ln w="16510">
            <a:solidFill>
              <a:srgbClr val="39C6D8">
                <a:alpha val="3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469880" y="-658368"/>
            <a:ext cx="2423160" cy="2423160"/>
          </a:xfrm>
          <a:prstGeom prst="ellipse">
            <a:avLst/>
          </a:prstGeom>
          <a:solidFill>
            <a:srgbClr val="1E224E">
              <a:alpha val="0"/>
            </a:srgbClr>
          </a:solidFill>
          <a:ln w="12700">
            <a:solidFill>
              <a:srgbClr val="2F78D8">
                <a:alpha val="4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109960" y="594360"/>
            <a:ext cx="73152" cy="73152"/>
          </a:xfrm>
          <a:prstGeom prst="ellipse">
            <a:avLst/>
          </a:prstGeom>
          <a:solidFill>
            <a:srgbClr val="68E1E8"/>
          </a:solidFill>
          <a:ln w="12700">
            <a:solidFill>
              <a:srgbClr val="68E1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384280" y="850392"/>
            <a:ext cx="45720" cy="45720"/>
          </a:xfrm>
          <a:prstGeom prst="ellipse">
            <a:avLst/>
          </a:prstGeom>
          <a:solidFill>
            <a:srgbClr val="39C6D8"/>
          </a:solidFill>
          <a:ln w="12700">
            <a:solidFill>
              <a:srgbClr val="39C6D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1631168" y="1106424"/>
            <a:ext cx="36576" cy="36576"/>
          </a:xfrm>
          <a:prstGeom prst="ellipse">
            <a:avLst/>
          </a:prstGeom>
          <a:solidFill>
            <a:srgbClr val="2F78D8"/>
          </a:solidFill>
          <a:ln w="12700">
            <a:solidFill>
              <a:srgbClr val="2F78D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-1371600" y="5166360"/>
            <a:ext cx="2926080" cy="2926080"/>
          </a:xfrm>
          <a:prstGeom prst="ellipse">
            <a:avLst/>
          </a:prstGeom>
          <a:solidFill>
            <a:srgbClr val="1E224E">
              <a:alpha val="0"/>
            </a:srgbClr>
          </a:solidFill>
          <a:ln w="12700">
            <a:solidFill>
              <a:srgbClr val="39C6D8">
                <a:alpha val="2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594360" y="50292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39C6D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REQUEST PATH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94360" y="868680"/>
            <a:ext cx="9966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2800" b="1">
                <a:solidFill>
                  <a:srgbClr val="F8FB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One request. Four clear roles.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612648" y="1554480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1400">
                <a:solidFill>
                  <a:srgbClr val="AAB7D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model chooses; the host remains in control of execution and output.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1792" y="2395728"/>
            <a:ext cx="2487168" cy="3063240"/>
          </a:xfrm>
          <a:prstGeom prst="roundRect">
            <a:avLst>
              <a:gd name="adj" fmla="val 2941"/>
            </a:avLst>
          </a:prstGeom>
          <a:solidFill>
            <a:srgbClr val="202654"/>
          </a:solidFill>
          <a:ln w="15240">
            <a:solidFill>
              <a:srgbClr val="39437F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877824" y="2697480"/>
            <a:ext cx="612648" cy="347472"/>
          </a:xfrm>
          <a:prstGeom prst="roundRect">
            <a:avLst>
              <a:gd name="adj" fmla="val 21053"/>
            </a:avLst>
          </a:prstGeom>
          <a:solidFill>
            <a:srgbClr val="30376E"/>
          </a:solidFill>
          <a:ln w="12700">
            <a:solidFill>
              <a:srgbClr val="3037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1005840" y="2770632"/>
            <a:ext cx="356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10" dirty="0">
                <a:solidFill>
                  <a:srgbClr val="68E1E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01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877824" y="331012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F8FB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QUESTION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77824" y="37947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1150">
                <a:solidFill>
                  <a:srgbClr val="AAB7D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What is the weather in Pune?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3127248" y="3410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8E1E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3483864" y="2395728"/>
            <a:ext cx="2487168" cy="3063240"/>
          </a:xfrm>
          <a:prstGeom prst="roundRect">
            <a:avLst>
              <a:gd name="adj" fmla="val 2941"/>
            </a:avLst>
          </a:prstGeom>
          <a:solidFill>
            <a:srgbClr val="202654"/>
          </a:solidFill>
          <a:ln w="15240">
            <a:solidFill>
              <a:srgbClr val="39437F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3739896" y="2697480"/>
            <a:ext cx="612648" cy="347472"/>
          </a:xfrm>
          <a:prstGeom prst="roundRect">
            <a:avLst>
              <a:gd name="adj" fmla="val 21053"/>
            </a:avLst>
          </a:prstGeom>
          <a:solidFill>
            <a:srgbClr val="30376E"/>
          </a:solidFill>
          <a:ln w="12700">
            <a:solidFill>
              <a:srgbClr val="3037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3867912" y="2770632"/>
            <a:ext cx="356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10" dirty="0">
                <a:solidFill>
                  <a:srgbClr val="68E1E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02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3739896" y="331012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F8FB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SELECT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3739896" y="37947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1150">
                <a:solidFill>
                  <a:srgbClr val="AAB7D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Foundry Local selects get_weather.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5989320" y="3410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8E1E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→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6345936" y="2395728"/>
            <a:ext cx="2487168" cy="3063240"/>
          </a:xfrm>
          <a:prstGeom prst="roundRect">
            <a:avLst>
              <a:gd name="adj" fmla="val 2941"/>
            </a:avLst>
          </a:prstGeom>
          <a:solidFill>
            <a:srgbClr val="2B356C"/>
          </a:solidFill>
          <a:ln w="15240">
            <a:solidFill>
              <a:srgbClr val="39C6D8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6601968" y="2697480"/>
            <a:ext cx="612648" cy="347472"/>
          </a:xfrm>
          <a:prstGeom prst="roundRect">
            <a:avLst>
              <a:gd name="adj" fmla="val 21053"/>
            </a:avLst>
          </a:prstGeom>
          <a:solidFill>
            <a:srgbClr val="39C6D8"/>
          </a:solidFill>
          <a:ln w="12700">
            <a:solidFill>
              <a:srgbClr val="39C6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6729984" y="2770632"/>
            <a:ext cx="356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10" dirty="0">
                <a:solidFill>
                  <a:srgbClr val="1E224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03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6601968" y="331012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F8FB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EXECUTE</a:t>
            </a:r>
            <a:endParaRPr lang="en-US" sz="1700" dirty="0"/>
          </a:p>
        </p:txBody>
      </p:sp>
      <p:sp>
        <p:nvSpPr>
          <p:cNvPr id="31" name="Text 28"/>
          <p:cNvSpPr/>
          <p:nvPr/>
        </p:nvSpPr>
        <p:spPr>
          <a:xfrm>
            <a:off x="6601968" y="37947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1150">
                <a:solidFill>
                  <a:srgbClr val="AAB7D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FastMCP validates and runs the tool.</a:t>
            </a:r>
            <a:endParaRPr lang="en-US" sz="1150" dirty="0"/>
          </a:p>
        </p:txBody>
      </p:sp>
      <p:sp>
        <p:nvSpPr>
          <p:cNvPr id="32" name="Text 29"/>
          <p:cNvSpPr/>
          <p:nvPr/>
        </p:nvSpPr>
        <p:spPr>
          <a:xfrm>
            <a:off x="8851392" y="3410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8E1E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→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9208008" y="2395728"/>
            <a:ext cx="2487168" cy="3063240"/>
          </a:xfrm>
          <a:prstGeom prst="roundRect">
            <a:avLst>
              <a:gd name="adj" fmla="val 2941"/>
            </a:avLst>
          </a:prstGeom>
          <a:solidFill>
            <a:srgbClr val="202654"/>
          </a:solidFill>
          <a:ln w="15240">
            <a:solidFill>
              <a:srgbClr val="39437F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9464040" y="2697480"/>
            <a:ext cx="612648" cy="347472"/>
          </a:xfrm>
          <a:prstGeom prst="roundRect">
            <a:avLst>
              <a:gd name="adj" fmla="val 21053"/>
            </a:avLst>
          </a:prstGeom>
          <a:solidFill>
            <a:srgbClr val="30376E"/>
          </a:solidFill>
          <a:ln w="12700">
            <a:solidFill>
              <a:srgbClr val="3037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9592056" y="2770632"/>
            <a:ext cx="356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10" dirty="0">
                <a:solidFill>
                  <a:srgbClr val="68E1E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04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9464040" y="331012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F8FB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RENDER</a:t>
            </a:r>
            <a:endParaRPr lang="en-US" sz="1700" dirty="0"/>
          </a:p>
        </p:txBody>
      </p:sp>
      <p:sp>
        <p:nvSpPr>
          <p:cNvPr id="37" name="Text 34"/>
          <p:cNvSpPr/>
          <p:nvPr/>
        </p:nvSpPr>
        <p:spPr>
          <a:xfrm>
            <a:off x="9464040" y="37947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1150">
                <a:solidFill>
                  <a:srgbClr val="AAB7D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host formats exact typed data.</a:t>
            </a:r>
            <a:endParaRPr lang="en-US" sz="1150" dirty="0"/>
          </a:p>
        </p:txBody>
      </p:sp>
      <p:sp>
        <p:nvSpPr>
          <p:cNvPr id="38" name="Text 35"/>
          <p:cNvSpPr/>
          <p:nvPr/>
        </p:nvSpPr>
        <p:spPr>
          <a:xfrm>
            <a:off x="685800" y="583387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1000" i="1">
                <a:solidFill>
                  <a:srgbClr val="7382A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LOCAL MODEL | LOCAL STDIO | NO API KEY</a:t>
            </a:r>
            <a:endParaRPr lang="en-US" sz="1000" dirty="0"/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77472" y="645566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AAB7D8"/>
                </a:solidFill>
                <a:latin typeface="Carlito"/>
                <a:ea typeface="Carlito"/>
                <a:cs typeface="Carlito"/>
              </a:defRPr>
            </a:lvl1pPr>
          </a:lstStyle>
          <a:p>
            <a:pPr algn="l"/>
            <a:r>
              <a:rPr lang="en-US" b="0"/>
              <a:t>4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143000"/>
            <a:ext cx="3383280" cy="3383280"/>
          </a:xfrm>
          <a:prstGeom prst="ellipse">
            <a:avLst/>
          </a:prstGeom>
          <a:solidFill>
            <a:srgbClr val="1E224E">
              <a:alpha val="0"/>
            </a:srgbClr>
          </a:solidFill>
          <a:ln w="16510">
            <a:solidFill>
              <a:srgbClr val="39C6D8">
                <a:alpha val="3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469880" y="-658368"/>
            <a:ext cx="2423160" cy="2423160"/>
          </a:xfrm>
          <a:prstGeom prst="ellipse">
            <a:avLst/>
          </a:prstGeom>
          <a:solidFill>
            <a:srgbClr val="1E224E">
              <a:alpha val="0"/>
            </a:srgbClr>
          </a:solidFill>
          <a:ln w="12700">
            <a:solidFill>
              <a:srgbClr val="2F78D8">
                <a:alpha val="4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109960" y="594360"/>
            <a:ext cx="73152" cy="73152"/>
          </a:xfrm>
          <a:prstGeom prst="ellipse">
            <a:avLst/>
          </a:prstGeom>
          <a:solidFill>
            <a:srgbClr val="68E1E8"/>
          </a:solidFill>
          <a:ln w="12700">
            <a:solidFill>
              <a:srgbClr val="68E1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384280" y="850392"/>
            <a:ext cx="45720" cy="45720"/>
          </a:xfrm>
          <a:prstGeom prst="ellipse">
            <a:avLst/>
          </a:prstGeom>
          <a:solidFill>
            <a:srgbClr val="39C6D8"/>
          </a:solidFill>
          <a:ln w="12700">
            <a:solidFill>
              <a:srgbClr val="39C6D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1631168" y="1106424"/>
            <a:ext cx="36576" cy="36576"/>
          </a:xfrm>
          <a:prstGeom prst="ellipse">
            <a:avLst/>
          </a:prstGeom>
          <a:solidFill>
            <a:srgbClr val="2F78D8"/>
          </a:solidFill>
          <a:ln w="12700">
            <a:solidFill>
              <a:srgbClr val="2F78D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-1371600" y="5166360"/>
            <a:ext cx="2926080" cy="2926080"/>
          </a:xfrm>
          <a:prstGeom prst="ellipse">
            <a:avLst/>
          </a:prstGeom>
          <a:solidFill>
            <a:srgbClr val="1E224E">
              <a:alpha val="0"/>
            </a:srgbClr>
          </a:solidFill>
          <a:ln w="12700">
            <a:solidFill>
              <a:srgbClr val="39C6D8">
                <a:alpha val="2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594360" y="50292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9C6D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DEMO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94360" y="868680"/>
            <a:ext cx="9966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F8FB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Try the local agent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612648" y="1554480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1400">
                <a:solidFill>
                  <a:srgbClr val="AAB7D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One model decision. One MCP call. Exact typed output.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58368" y="2167128"/>
            <a:ext cx="7360920" cy="3703320"/>
          </a:xfrm>
          <a:prstGeom prst="roundRect">
            <a:avLst>
              <a:gd name="adj" fmla="val 1975"/>
            </a:avLst>
          </a:prstGeom>
          <a:solidFill>
            <a:srgbClr val="10142F"/>
          </a:solidFill>
          <a:ln w="15240">
            <a:solidFill>
              <a:srgbClr val="38417D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932688" y="2395728"/>
            <a:ext cx="109728" cy="109728"/>
          </a:xfrm>
          <a:prstGeom prst="ellipse">
            <a:avLst/>
          </a:prstGeom>
          <a:solidFill>
            <a:srgbClr val="F46B6B"/>
          </a:solidFill>
          <a:ln w="12700">
            <a:solidFill>
              <a:srgbClr val="F46B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1115568" y="2395728"/>
            <a:ext cx="109728" cy="109728"/>
          </a:xfrm>
          <a:prstGeom prst="ellipse">
            <a:avLst/>
          </a:prstGeom>
          <a:solidFill>
            <a:srgbClr val="F2C94C"/>
          </a:solidFill>
          <a:ln w="12700">
            <a:solidFill>
              <a:srgbClr val="F2C9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1298448" y="2395728"/>
            <a:ext cx="109728" cy="109728"/>
          </a:xfrm>
          <a:prstGeom prst="ellipse">
            <a:avLst/>
          </a:prstGeom>
          <a:solidFill>
            <a:srgbClr val="6FCF97"/>
          </a:solidFill>
          <a:ln w="12700">
            <a:solidFill>
              <a:srgbClr val="6FCF9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960120" y="2761488"/>
            <a:ext cx="6537960" cy="2423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GB" sz="1400">
                <a:solidFill>
                  <a:srgbClr val="D9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.\workshop.ps1 check</a:t>
            </a:r>
          </a:p>
          <a:p>
            <a:pPr marL="0" indent="0">
              <a:buNone/>
            </a:pPr>
            <a:r>
              <a:rPr lang="en-GB" sz="1400">
                <a:solidFill>
                  <a:srgbClr val="D9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.\workshop.ps1 agent "What is the weather in Pune?"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394192" y="237744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F8FB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Watch the request path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8394192" y="3063240"/>
            <a:ext cx="438912" cy="438912"/>
          </a:xfrm>
          <a:prstGeom prst="ellipse">
            <a:avLst/>
          </a:prstGeom>
          <a:solidFill>
            <a:srgbClr val="39C6D8">
              <a:alpha val="15000"/>
            </a:srgbClr>
          </a:solidFill>
          <a:ln w="15240">
            <a:solidFill>
              <a:srgbClr val="39C6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8394192" y="3145536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9C6D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8997696" y="309067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AAB7D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Model selects get_weather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394192" y="3749040"/>
            <a:ext cx="438912" cy="438912"/>
          </a:xfrm>
          <a:prstGeom prst="ellipse">
            <a:avLst/>
          </a:prstGeom>
          <a:solidFill>
            <a:srgbClr val="39C6D8">
              <a:alpha val="15000"/>
            </a:srgbClr>
          </a:solidFill>
          <a:ln w="15240">
            <a:solidFill>
              <a:srgbClr val="39C6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8394192" y="3831336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9C6D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8997696" y="377647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1150">
                <a:solidFill>
                  <a:srgbClr val="AAB7D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MCP validates the city argument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8394192" y="4434840"/>
            <a:ext cx="438912" cy="438912"/>
          </a:xfrm>
          <a:prstGeom prst="ellipse">
            <a:avLst/>
          </a:prstGeom>
          <a:solidFill>
            <a:srgbClr val="39C6D8">
              <a:alpha val="15000"/>
            </a:srgbClr>
          </a:solidFill>
          <a:ln w="15240">
            <a:solidFill>
              <a:srgbClr val="39C6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8394192" y="4517136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9C6D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8997696" y="446227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1150">
                <a:solidFill>
                  <a:srgbClr val="AAB7D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Host renders the structured result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8394192" y="5440680"/>
            <a:ext cx="987552" cy="347472"/>
          </a:xfrm>
          <a:prstGeom prst="roundRect">
            <a:avLst>
              <a:gd name="adj" fmla="val 21053"/>
            </a:avLst>
          </a:prstGeom>
          <a:solidFill>
            <a:srgbClr val="39C6D8"/>
          </a:solidFill>
          <a:ln w="12700">
            <a:solidFill>
              <a:srgbClr val="39C6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8522208" y="551383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10" dirty="0">
                <a:solidFill>
                  <a:srgbClr val="1E224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DEMO</a:t>
            </a:r>
            <a:endParaRPr lang="en-US" sz="85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77472" y="645566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AAB7D8"/>
                </a:solidFill>
                <a:latin typeface="Carlito"/>
                <a:ea typeface="Carlito"/>
                <a:cs typeface="Carlito"/>
              </a:defRPr>
            </a:lvl1pPr>
          </a:lstStyle>
          <a:p>
            <a:pPr algn="l"/>
            <a:r>
              <a:rPr lang="en-US" b="0"/>
              <a:t>5</a:t>
            </a:r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143000"/>
            <a:ext cx="3383280" cy="3383280"/>
          </a:xfrm>
          <a:prstGeom prst="ellipse">
            <a:avLst/>
          </a:prstGeom>
          <a:solidFill>
            <a:srgbClr val="1E224E">
              <a:alpha val="0"/>
            </a:srgbClr>
          </a:solidFill>
          <a:ln w="16510">
            <a:solidFill>
              <a:srgbClr val="39C6D8">
                <a:alpha val="3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469880" y="-658368"/>
            <a:ext cx="2423160" cy="2423160"/>
          </a:xfrm>
          <a:prstGeom prst="ellipse">
            <a:avLst/>
          </a:prstGeom>
          <a:solidFill>
            <a:srgbClr val="1E224E">
              <a:alpha val="0"/>
            </a:srgbClr>
          </a:solidFill>
          <a:ln w="12700">
            <a:solidFill>
              <a:srgbClr val="2F78D8">
                <a:alpha val="4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109960" y="594360"/>
            <a:ext cx="73152" cy="73152"/>
          </a:xfrm>
          <a:prstGeom prst="ellipse">
            <a:avLst/>
          </a:prstGeom>
          <a:solidFill>
            <a:srgbClr val="68E1E8"/>
          </a:solidFill>
          <a:ln w="12700">
            <a:solidFill>
              <a:srgbClr val="68E1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384280" y="850392"/>
            <a:ext cx="45720" cy="45720"/>
          </a:xfrm>
          <a:prstGeom prst="ellipse">
            <a:avLst/>
          </a:prstGeom>
          <a:solidFill>
            <a:srgbClr val="39C6D8"/>
          </a:solidFill>
          <a:ln w="12700">
            <a:solidFill>
              <a:srgbClr val="39C6D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1631168" y="1106424"/>
            <a:ext cx="36576" cy="36576"/>
          </a:xfrm>
          <a:prstGeom prst="ellipse">
            <a:avLst/>
          </a:prstGeom>
          <a:solidFill>
            <a:srgbClr val="2F78D8"/>
          </a:solidFill>
          <a:ln w="12700">
            <a:solidFill>
              <a:srgbClr val="2F78D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-1371600" y="5166360"/>
            <a:ext cx="2926080" cy="2926080"/>
          </a:xfrm>
          <a:prstGeom prst="ellipse">
            <a:avLst/>
          </a:prstGeom>
          <a:solidFill>
            <a:srgbClr val="1E224E">
              <a:alpha val="0"/>
            </a:srgbClr>
          </a:solidFill>
          <a:ln w="12700">
            <a:solidFill>
              <a:srgbClr val="39C6D8">
                <a:alpha val="2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/mnt/data/mcp_globe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29184"/>
            <a:ext cx="554035" cy="4781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25261" y="374721"/>
            <a:ext cx="1783537" cy="1821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96" b="1" dirty="0">
                <a:solidFill>
                  <a:srgbClr val="F8FB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MCP COMMUNITY</a:t>
            </a:r>
            <a:endParaRPr lang="en-US" sz="996" dirty="0"/>
          </a:p>
        </p:txBody>
      </p:sp>
      <p:sp>
        <p:nvSpPr>
          <p:cNvPr id="10" name="Text 7"/>
          <p:cNvSpPr/>
          <p:nvPr/>
        </p:nvSpPr>
        <p:spPr>
          <a:xfrm>
            <a:off x="1125261" y="549280"/>
            <a:ext cx="1176376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96" b="1" dirty="0">
                <a:solidFill>
                  <a:srgbClr val="68E1E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CONNECT</a:t>
            </a:r>
            <a:endParaRPr lang="en-US" sz="996" dirty="0"/>
          </a:p>
        </p:txBody>
      </p:sp>
      <p:sp>
        <p:nvSpPr>
          <p:cNvPr id="11" name="Text 8"/>
          <p:cNvSpPr/>
          <p:nvPr/>
        </p:nvSpPr>
        <p:spPr>
          <a:xfrm>
            <a:off x="2278868" y="564459"/>
            <a:ext cx="819668" cy="121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98" b="1" kern="0" spc="150" dirty="0">
                <a:solidFill>
                  <a:srgbClr val="AAB7D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BENGALURU</a:t>
            </a:r>
            <a:endParaRPr lang="en-US" sz="598" dirty="0"/>
          </a:p>
        </p:txBody>
      </p:sp>
      <p:sp>
        <p:nvSpPr>
          <p:cNvPr id="12" name="Text 9"/>
          <p:cNvSpPr/>
          <p:nvPr/>
        </p:nvSpPr>
        <p:spPr>
          <a:xfrm>
            <a:off x="685800" y="9144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20">
                <a:solidFill>
                  <a:srgbClr val="68E1E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KEY TAKEAWAY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76656" y="1572768"/>
            <a:ext cx="8092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GB" sz="3900" b="1">
                <a:solidFill>
                  <a:srgbClr val="F8FB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Use the model for decisions.</a:t>
            </a:r>
          </a:p>
          <a:p>
            <a:pPr marL="0" indent="0">
              <a:buNone/>
            </a:pPr>
            <a:r>
              <a:rPr lang="en-GB" sz="3900" b="1">
                <a:solidFill>
                  <a:srgbClr val="F8FB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Use typed tool data for facts.</a:t>
            </a:r>
            <a:endParaRPr lang="en-US" sz="3900" dirty="0"/>
          </a:p>
        </p:txBody>
      </p:sp>
      <p:sp>
        <p:nvSpPr>
          <p:cNvPr id="14" name="Shape 11"/>
          <p:cNvSpPr/>
          <p:nvPr/>
        </p:nvSpPr>
        <p:spPr>
          <a:xfrm>
            <a:off x="713232" y="3685032"/>
            <a:ext cx="3794760" cy="0"/>
          </a:xfrm>
          <a:prstGeom prst="line">
            <a:avLst/>
          </a:prstGeom>
          <a:noFill/>
          <a:ln w="38100">
            <a:solidFill>
              <a:srgbClr val="39C6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713232" y="4096512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1700">
                <a:solidFill>
                  <a:srgbClr val="AAB7D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Small local models stay responsive when the host keeps the task bounded.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9326880" y="128016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0" dirty="0">
                <a:solidFill>
                  <a:srgbClr val="39C6D8">
                    <a:alpha val="7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7800" dirty="0"/>
          </a:p>
        </p:txBody>
      </p:sp>
      <p:pic>
        <p:nvPicPr>
          <p:cNvPr id="17" name="Image 1" descr="/mnt/data/bengaluru_skyline_in_cyan_line_art.png"/>
          <p:cNvPicPr>
            <a:picLocks noChangeAspect="1"/>
          </p:cNvPicPr>
          <p:nvPr/>
        </p:nvPicPr>
        <p:blipFill>
          <a:blip r:embed="rId4">
            <a:alphaModFix amt="42000"/>
          </a:blip>
          <a:stretch>
            <a:fillRect/>
          </a:stretch>
        </p:blipFill>
        <p:spPr>
          <a:xfrm>
            <a:off x="6858000" y="5230368"/>
            <a:ext cx="4892040" cy="1143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77472" y="645566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AAB7D8"/>
                </a:solidFill>
                <a:latin typeface="Carlito"/>
                <a:ea typeface="Carlito"/>
                <a:cs typeface="Carlito"/>
              </a:defRPr>
            </a:lvl1pPr>
          </a:lstStyle>
          <a:p>
            <a:pPr algn="l"/>
            <a:r>
              <a:rPr lang="en-US" b="0"/>
              <a:t>6</a:t>
            </a:r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143000"/>
            <a:ext cx="3383280" cy="3383280"/>
          </a:xfrm>
          <a:prstGeom prst="ellipse">
            <a:avLst/>
          </a:prstGeom>
          <a:solidFill>
            <a:srgbClr val="1E224E">
              <a:alpha val="0"/>
            </a:srgbClr>
          </a:solidFill>
          <a:ln w="16510">
            <a:solidFill>
              <a:srgbClr val="39C6D8">
                <a:alpha val="3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469880" y="-658368"/>
            <a:ext cx="2423160" cy="2423160"/>
          </a:xfrm>
          <a:prstGeom prst="ellipse">
            <a:avLst/>
          </a:prstGeom>
          <a:solidFill>
            <a:srgbClr val="1E224E">
              <a:alpha val="0"/>
            </a:srgbClr>
          </a:solidFill>
          <a:ln w="12700">
            <a:solidFill>
              <a:srgbClr val="2F78D8">
                <a:alpha val="4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109960" y="594360"/>
            <a:ext cx="73152" cy="73152"/>
          </a:xfrm>
          <a:prstGeom prst="ellipse">
            <a:avLst/>
          </a:prstGeom>
          <a:solidFill>
            <a:srgbClr val="68E1E8"/>
          </a:solidFill>
          <a:ln w="12700">
            <a:solidFill>
              <a:srgbClr val="68E1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384280" y="850392"/>
            <a:ext cx="45720" cy="45720"/>
          </a:xfrm>
          <a:prstGeom prst="ellipse">
            <a:avLst/>
          </a:prstGeom>
          <a:solidFill>
            <a:srgbClr val="39C6D8"/>
          </a:solidFill>
          <a:ln w="12700">
            <a:solidFill>
              <a:srgbClr val="39C6D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1631168" y="1106424"/>
            <a:ext cx="36576" cy="36576"/>
          </a:xfrm>
          <a:prstGeom prst="ellipse">
            <a:avLst/>
          </a:prstGeom>
          <a:solidFill>
            <a:srgbClr val="2F78D8"/>
          </a:solidFill>
          <a:ln w="12700">
            <a:solidFill>
              <a:srgbClr val="2F78D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-1371600" y="5166360"/>
            <a:ext cx="2926080" cy="2926080"/>
          </a:xfrm>
          <a:prstGeom prst="ellipse">
            <a:avLst/>
          </a:prstGeom>
          <a:solidFill>
            <a:srgbClr val="1E224E">
              <a:alpha val="0"/>
            </a:srgbClr>
          </a:solidFill>
          <a:ln w="12700">
            <a:solidFill>
              <a:srgbClr val="39C6D8">
                <a:alpha val="2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/mnt/data/mcp_globe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777240"/>
            <a:ext cx="2011680" cy="17373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3063240" y="96012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40">
                <a:solidFill>
                  <a:srgbClr val="68E1E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KEEP BUILDING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044952" y="1572768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400" b="1">
                <a:solidFill>
                  <a:srgbClr val="F8FB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Microsoft MCP for Beginners</a:t>
            </a:r>
            <a:endParaRPr lang="en-US" sz="3400" dirty="0"/>
          </a:p>
        </p:txBody>
      </p:sp>
      <p:sp>
        <p:nvSpPr>
          <p:cNvPr id="11" name="Text 8">
            <a:hlinkClick r:id="rId4"/>
          </p:cNvPr>
          <p:cNvSpPr/>
          <p:nvPr/>
        </p:nvSpPr>
        <p:spPr>
          <a:xfrm>
            <a:off x="3063240" y="2395728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AAB7D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aka.ms/mcp-for-beginners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3063240" y="2971800"/>
            <a:ext cx="5029200" cy="0"/>
          </a:xfrm>
          <a:prstGeom prst="line">
            <a:avLst/>
          </a:prstGeom>
          <a:noFill/>
          <a:ln w="31750">
            <a:solidFill>
              <a:srgbClr val="39C6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3063240" y="33375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F8FB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More MCP resources</a:t>
            </a:r>
            <a:endParaRPr lang="en-US" sz="2000" dirty="0"/>
          </a:p>
        </p:txBody>
      </p:sp>
      <p:sp>
        <p:nvSpPr>
          <p:cNvPr id="14" name="Text 11">
            <a:hlinkClick r:id="rId5"/>
          </p:cNvPr>
          <p:cNvSpPr/>
          <p:nvPr/>
        </p:nvSpPr>
        <p:spPr>
          <a:xfrm>
            <a:off x="3063240" y="37947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AAB7D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modelcontextprotocol.io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3063240" y="4526280"/>
            <a:ext cx="1508760" cy="347472"/>
          </a:xfrm>
          <a:prstGeom prst="roundRect">
            <a:avLst>
              <a:gd name="adj" fmla="val 21053"/>
            </a:avLst>
          </a:prstGeom>
          <a:solidFill>
            <a:srgbClr val="282E66"/>
          </a:solidFill>
          <a:ln w="12700">
            <a:solidFill>
              <a:srgbClr val="282E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>
            <a:hlinkClick r:id="rId6"/>
          </p:cNvPr>
          <p:cNvSpPr/>
          <p:nvPr/>
        </p:nvSpPr>
        <p:spPr>
          <a:xfrm>
            <a:off x="3191256" y="4599432"/>
            <a:ext cx="1252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10">
                <a:solidFill>
                  <a:srgbClr val="F8FB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WORKSHOP REPO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800600" y="4526280"/>
            <a:ext cx="1508760" cy="347472"/>
          </a:xfrm>
          <a:prstGeom prst="roundRect">
            <a:avLst>
              <a:gd name="adj" fmla="val 21053"/>
            </a:avLst>
          </a:prstGeom>
          <a:solidFill>
            <a:srgbClr val="282E66"/>
          </a:solidFill>
          <a:ln w="12700">
            <a:solidFill>
              <a:srgbClr val="282E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>
            <a:hlinkClick r:id="rId4"/>
          </p:cNvPr>
          <p:cNvSpPr/>
          <p:nvPr/>
        </p:nvSpPr>
        <p:spPr>
          <a:xfrm>
            <a:off x="4928616" y="4599432"/>
            <a:ext cx="1252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10">
                <a:solidFill>
                  <a:srgbClr val="F8FB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OPEN THE COURSE</a:t>
            </a:r>
            <a:endParaRPr lang="en-US" sz="850" dirty="0"/>
          </a:p>
        </p:txBody>
      </p:sp>
      <p:pic>
        <p:nvPicPr>
          <p:cNvPr id="19" name="Image 1" descr="/mnt/data/bengaluru_skyline_in_cyan_line_art.png"/>
          <p:cNvPicPr>
            <a:picLocks noChangeAspect="1"/>
          </p:cNvPicPr>
          <p:nvPr/>
        </p:nvPicPr>
        <p:blipFill>
          <a:blip r:embed="rId7">
            <a:alphaModFix amt="55000"/>
          </a:blip>
          <a:stretch>
            <a:fillRect/>
          </a:stretch>
        </p:blipFill>
        <p:spPr>
          <a:xfrm>
            <a:off x="6858000" y="5230368"/>
            <a:ext cx="4892040" cy="1143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77472" y="6455664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AAB7D8"/>
                </a:solidFill>
                <a:latin typeface="Carlito"/>
                <a:ea typeface="Carlito"/>
                <a:cs typeface="Carlito"/>
              </a:defRPr>
            </a:lvl1pPr>
          </a:lstStyle>
          <a:p>
            <a:pPr algn="l"/>
            <a:r>
              <a:rPr lang="en-US" b="0"/>
              <a:t>7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rlit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rlit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345</Words>
  <Application>Microsoft Office PowerPoint</Application>
  <PresentationFormat>Widescreen</PresentationFormat>
  <Paragraphs>95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Carlito</vt:lpstr>
      <vt:lpstr>Courier New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MCP Community Connect Bengaluru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MCP Community Connect Bengaluru — Speaker Deck Template</dc:title>
  <dc:subject>MCP Community Connect Bengaluru Speaker Deck Template</dc:subject>
  <dc:creator>OpenAI</dc:creator>
  <cp:lastModifiedBy>Lee Stott</cp:lastModifiedBy>
  <cp:revision>3</cp:revision>
  <dcterms:created xsi:type="dcterms:W3CDTF">2026-09-18T05:21:26Z</dcterms:created>
  <dcterms:modified xsi:type="dcterms:W3CDTF">2026-09-18T09:04:17Z</dcterms:modified>
</cp:coreProperties>
</file>