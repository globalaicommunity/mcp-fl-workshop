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8" r:id="rId3"/>
    <p:sldId id="261" r:id="rId4"/>
    <p:sldId id="263" r:id="rId5"/>
    <p:sldId id="264" r:id="rId6"/>
    <p:sldId id="268" r:id="rId7"/>
    <p:sldId id="269" r:id="rId8"/>
    <p:sldId id="265" r:id="rId9"/>
    <p:sldId id="267"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6" d="100"/>
          <a:sy n="56" d="100"/>
        </p:scale>
        <p:origin x="84" y="4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11339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Notes"/>
          <p:cNvSpPr>
            <a:spLocks noGrp="1"/>
          </p:cNvSpPr>
          <p:nvPr>
            <p:ph type="body" idx="13"/>
          </p:nvPr>
        </p:nvSpPr>
        <p:spPr/>
        <p:txBody>
          <a:bodyPr/>
          <a:lstStyle/>
          <a:p>
            <a:r>
              <a:t>Bring your own VM setup guide.</a:t>
            </a:r>
          </a:p>
          <a:p>
            <a:r>
              <a:t>Mac: use UTM's official Windows guide. Obtain a licensed Windows 11 ISO for the host architecture. In UTM choose +, Virtualize, Windows, select the ISO and install drivers / SPICE tools. Allocate resources appropriate to the host and install Windows. The repository evidence does not establish UTM/Windows ARM compatibility. Treat this route as unverified until the workshop acceptance checks pass on that specific machine.</a:t>
            </a:r>
          </a:p>
          <a:p>
            <a:r>
              <a:t>Windows: use a Hyper-V-capable Windows edition and hardware with virtualization enabled. Enable Hyper-V, restart if requested, and open Hyper-V Manager. Select New &gt; Virtual Machine, Generation 2. Configure RAM, virtual disk, and a connected virtual switch. Attach a Windows 11 ISO. Before booting, enable Secure Boot and Trusted Platform Module in VM Security settings, then install Windows. Use a valid Windows license.</a:t>
            </a:r>
          </a:p>
          <a:p>
            <a:r>
              <a:t>For either guest, prepare the image while online. The repository runbook requires supported 64-bit Windows, Python 3.11 or newer with the py launcher, VS Code with Python extension, and the repository in an accessible short path. Git is useful for cloning or updating the repository.</a:t>
            </a:r>
          </a:p>
          <a:p>
            <a:r>
              <a:t>Example acquisition command: git clone https://github.com/GlobalAICommunity/mcp-fl-workshop.git</a:t>
            </a:r>
          </a:p>
          <a:p>
            <a:r>
              <a:t>Then: cd mcp-fl-workshop</a:t>
            </a:r>
          </a:p>
          <a:p>
            <a:r>
              <a:t>Use docs/vm-image-runbook.md for the current dependency and model-cache setup. Run remaining setup as the same non-administrator account used during the workshop because the cache is user-scoped.</a:t>
            </a:r>
          </a:p>
          <a:p>
            <a:r>
              <a:t>Repository troubleshooting documents environment creation using py -3.11 -m venv .venv and .\.venv\Scripts\python -m pip install -r requirements-lock.txt. Follow the current runbook for the full process, including model caching.</a:t>
            </a:r>
          </a:p>
          <a:p>
            <a:r>
              <a:t>Acceptance: disable networking and run .\workshop.ps1 check from the repository root. All checks must pass, including loading the cached model and producing a get_weather tool request. An OS installation alone is not a prepared workshop image. Test performance on representative hardware.</a:t>
            </a:r>
          </a:p>
          <a:p>
            <a:r>
              <a:t>[Sources]</a:t>
            </a:r>
          </a:p>
          <a:p>
            <a:r>
              <a:t>https://</a:t>
            </a:r>
            <a:r>
              <a:rPr lang="en-GB"/>
              <a:t>mac.getutm.app/</a:t>
            </a:r>
          </a:p>
          <a:p>
            <a:r>
              <a:rPr lang="en-GB"/>
              <a:t>https://</a:t>
            </a:r>
            <a:r>
              <a:t>github.com/GlobalAICommunity/mcp-fl-workshop</a:t>
            </a:r>
          </a:p>
          <a:p>
            <a:r>
              <a:t>https://github.com/GlobalAICommunity/mcp-fl-workshop/blob/main/docs/vm-image-runbook.md</a:t>
            </a:r>
          </a:p>
          <a:p>
            <a:r>
              <a:t>https://github.com/GlobalAICommunity/mcp-fl-workshop/blob/main/docs/troubleshooting.md</a:t>
            </a:r>
          </a:p>
          <a:p>
            <a:r>
              <a:t>https://docs.getutm.app/guides/windows/</a:t>
            </a:r>
          </a:p>
          <a:p>
            <a:r>
              <a:t>https://learn.microsoft.com/en-us/windows-server/virtualization/hyper-v/get-started/create-a-virtual-machine-in-hyper-v</a:t>
            </a:r>
          </a:p>
          <a:p>
            <a:r>
              <a:t>https://learn.microsoft.com/en-us/windows-server/virtualization/hyper-v/generation-2-virtual-machine-security-features</a:t>
            </a:r>
          </a:p>
          <a:p>
            <a:r>
              <a:t>[/Sources]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Notes"/>
          <p:cNvSpPr>
            <a:spLocks noGrp="1"/>
          </p:cNvSpPr>
          <p:nvPr>
            <p:ph type="body" idx="13"/>
          </p:nvPr>
        </p:nvSpPr>
        <p:spPr/>
        <p:txBody>
          <a:bodyPr/>
          <a:lstStyle/>
          <a:p>
            <a:r>
              <a:t>Open the workshop repository in GitHub and use Code, Codespaces, Create codespace on main. Wait for the browser editor to open. The repository is available in the codespace, so open docs/codespaces/README.md and follow its current setup and run instructions.</a:t>
            </a:r>
          </a:p>
          <a:p>
            <a:r>
              <a:t>The presenter supplied the Codespaces guide address. Its page content could not be retrieved during slide preparation, so this slide provides the launch workflow and guide location without asserting specific dependencies, model runtime, ports, or commands.</a:t>
            </a:r>
          </a:p>
          <a:p>
            <a:r>
              <a:t>[Sources]</a:t>
            </a:r>
          </a:p>
          <a:p>
            <a:r>
              <a:t>User-supplied guide location: https://github.com/GlobalAICommunity/mcp-fl-workshop/blob/main/docs/codespaces/README.md</a:t>
            </a:r>
          </a:p>
          <a:p>
            <a:r>
              <a:t>Repository: https://github.com/GlobalAICommunity/mcp-fl-workshop</a:t>
            </a:r>
          </a:p>
          <a:p>
            <a:r>
              <a:t>Codespaces launch workflow: https://docs.github.com/en/codespaces/developing-in-a-codespace/creating-a-codespace-for-a-repository</a:t>
            </a:r>
          </a:p>
          <a:p>
            <a:r>
              <a:t>https://docs.github.com/codespaces/quickstart</a:t>
            </a:r>
          </a:p>
          <a:p>
            <a:r>
              <a:t>[/Sources]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CP_DARK">
    <p:bg>
      <p:bgPr>
        <a:solidFill>
          <a:srgbClr val="1E224E"/>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E224E"/>
          </a:solidFill>
          <a:ln w="12700">
            <a:solidFill>
              <a:srgbClr val="1E224E"/>
            </a:solidFill>
            <a:prstDash val="solid"/>
          </a:ln>
        </p:spPr>
        <p:txBody>
          <a:bodyPr/>
          <a:lstStyle/>
          <a:p>
            <a:endParaRPr lang="en-US"/>
          </a:p>
        </p:txBody>
      </p:sp>
      <p:sp>
        <p:nvSpPr>
          <p:cNvPr id="3" name="Shape 1"/>
          <p:cNvSpPr/>
          <p:nvPr/>
        </p:nvSpPr>
        <p:spPr>
          <a:xfrm>
            <a:off x="411480" y="6446520"/>
            <a:ext cx="11365992" cy="0"/>
          </a:xfrm>
          <a:prstGeom prst="line">
            <a:avLst/>
          </a:prstGeom>
          <a:noFill/>
          <a:ln w="13970">
            <a:solidFill>
              <a:srgbClr val="39C6D8">
                <a:alpha val="35000"/>
              </a:srgbClr>
            </a:solidFill>
            <a:prstDash val="solid"/>
          </a:ln>
        </p:spPr>
        <p:txBody>
          <a:bodyPr/>
          <a:lstStyle/>
          <a:p>
            <a:endParaRPr lang="en-US"/>
          </a:p>
        </p:txBody>
      </p:sp>
      <p:sp>
        <p:nvSpPr>
          <p:cNvPr id="4" name="Text 2"/>
          <p:cNvSpPr/>
          <p:nvPr/>
        </p:nvSpPr>
        <p:spPr>
          <a:xfrm>
            <a:off x="475488" y="6473952"/>
            <a:ext cx="5303520" cy="182880"/>
          </a:xfrm>
          <a:prstGeom prst="rect">
            <a:avLst/>
          </a:prstGeom>
          <a:noFill/>
          <a:ln/>
        </p:spPr>
        <p:txBody>
          <a:bodyPr wrap="square" lIns="0" tIns="0" rIns="0" bIns="0" rtlCol="0" anchor="ctr"/>
          <a:lstStyle/>
          <a:p>
            <a:pPr marL="0" indent="0">
              <a:buNone/>
            </a:pPr>
            <a:r>
              <a:rPr lang="en-US" sz="750" b="1" kern="0" spc="140">
                <a:solidFill>
                  <a:srgbClr val="7ED9E4"/>
                </a:solidFill>
                <a:latin typeface="Carlito" pitchFamily="34" charset="0"/>
                <a:ea typeface="Carlito" pitchFamily="34" charset="-122"/>
                <a:cs typeface="Carlito" pitchFamily="34" charset="-120"/>
              </a:rPr>
              <a:t>MCP COMMUNITY CONNECT · BENGALURU</a:t>
            </a:r>
            <a:endParaRPr lang="en-US" sz="750"/>
          </a:p>
        </p:txBody>
      </p:sp>
      <p:sp>
        <p:nvSpPr>
          <p:cNvPr id="5" name="Text 3"/>
          <p:cNvSpPr/>
          <p:nvPr/>
        </p:nvSpPr>
        <p:spPr>
          <a:xfrm>
            <a:off x="9738360" y="6473952"/>
            <a:ext cx="1965960" cy="182880"/>
          </a:xfrm>
          <a:prstGeom prst="rect">
            <a:avLst/>
          </a:prstGeom>
          <a:noFill/>
          <a:ln/>
        </p:spPr>
        <p:txBody>
          <a:bodyPr wrap="square" lIns="0" tIns="0" rIns="0" bIns="0" rtlCol="0" anchor="ctr"/>
          <a:lstStyle/>
          <a:p>
            <a:pPr marL="0" indent="0" algn="r">
              <a:buNone/>
            </a:pPr>
            <a:r>
              <a:rPr lang="en-US" sz="750" kern="0" spc="110">
                <a:solidFill>
                  <a:srgbClr val="AAB7D8"/>
                </a:solidFill>
                <a:latin typeface="Carlito" pitchFamily="34" charset="0"/>
                <a:ea typeface="Carlito" pitchFamily="34" charset="-122"/>
                <a:cs typeface="Carlito" pitchFamily="34" charset="-120"/>
              </a:rPr>
              <a:t>26 SEPTEMBER 2026</a:t>
            </a:r>
            <a:endParaRPr lang="en-US" sz="750"/>
          </a:p>
        </p:txBody>
      </p:sp>
      <p:sp>
        <p:nvSpPr>
          <p:cNvPr id="25" name="Slide Number Placeholder 0"/>
          <p:cNvSpPr>
            <a:spLocks noGrp="1"/>
          </p:cNvSpPr>
          <p:nvPr>
            <p:ph type="sldNum" sz="quarter" idx="4294967295"/>
          </p:nvPr>
        </p:nvSpPr>
        <p:spPr>
          <a:xfrm>
            <a:off x="11777472" y="6455664"/>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AAB7D8"/>
                </a:solidFill>
                <a:latin typeface="Carlito"/>
                <a:ea typeface="Carlito"/>
                <a:cs typeface="Carlito"/>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77472" y="6455664"/>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AAB7D8"/>
                </a:solidFill>
                <a:latin typeface="Carlito"/>
                <a:ea typeface="Carlito"/>
                <a:cs typeface="Carlito"/>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GlobalAICommunity/mcp-fl-workshop"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hyperlink" Target="https://github.com/GlobalAICommunity/mcp-fl-workshop" TargetMode="External"/><Relationship Id="rId5" Type="http://schemas.openxmlformats.org/officeDocument/2006/relationships/hyperlink" Target="https://modelcontextprotocol.io/" TargetMode="External"/><Relationship Id="rId4" Type="http://schemas.openxmlformats.org/officeDocument/2006/relationships/hyperlink" Target="https://aka.ms/mcp-for-beginners"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10221937" y="-1965960"/>
            <a:ext cx="3383280" cy="3383280"/>
          </a:xfrm>
          <a:prstGeom prst="ellipse">
            <a:avLst/>
          </a:prstGeom>
          <a:solidFill>
            <a:srgbClr val="1E224E">
              <a:alpha val="0"/>
            </a:srgbClr>
          </a:solidFill>
          <a:ln w="16510">
            <a:solidFill>
              <a:srgbClr val="39C6D8">
                <a:alpha val="38000"/>
              </a:srgbClr>
            </a:solidFill>
            <a:prstDash val="solid"/>
          </a:ln>
        </p:spPr>
        <p:txBody>
          <a:bodyPr/>
          <a:lstStyle/>
          <a:p>
            <a:endParaRPr lang="en-US"/>
          </a:p>
        </p:txBody>
      </p:sp>
      <p:sp>
        <p:nvSpPr>
          <p:cNvPr id="3" name="Shape 1"/>
          <p:cNvSpPr/>
          <p:nvPr/>
        </p:nvSpPr>
        <p:spPr>
          <a:xfrm>
            <a:off x="10724857" y="-1481328"/>
            <a:ext cx="2423160" cy="2423160"/>
          </a:xfrm>
          <a:prstGeom prst="ellipse">
            <a:avLst/>
          </a:prstGeom>
          <a:solidFill>
            <a:srgbClr val="1E224E">
              <a:alpha val="0"/>
            </a:srgbClr>
          </a:solidFill>
          <a:ln w="12700">
            <a:solidFill>
              <a:srgbClr val="2F78D8">
                <a:alpha val="42000"/>
              </a:srgbClr>
            </a:solidFill>
            <a:prstDash val="solid"/>
          </a:ln>
        </p:spPr>
        <p:txBody>
          <a:bodyPr/>
          <a:lstStyle/>
          <a:p>
            <a:endParaRPr lang="en-US"/>
          </a:p>
        </p:txBody>
      </p:sp>
      <p:sp>
        <p:nvSpPr>
          <p:cNvPr id="4" name="Shape 2"/>
          <p:cNvSpPr/>
          <p:nvPr/>
        </p:nvSpPr>
        <p:spPr>
          <a:xfrm>
            <a:off x="11109960" y="594360"/>
            <a:ext cx="73152" cy="73152"/>
          </a:xfrm>
          <a:prstGeom prst="ellipse">
            <a:avLst/>
          </a:prstGeom>
          <a:solidFill>
            <a:srgbClr val="68E1E8"/>
          </a:solidFill>
          <a:ln w="12700">
            <a:solidFill>
              <a:srgbClr val="68E1E8">
                <a:alpha val="0"/>
              </a:srgbClr>
            </a:solidFill>
            <a:prstDash val="solid"/>
          </a:ln>
        </p:spPr>
        <p:txBody>
          <a:bodyPr/>
          <a:lstStyle/>
          <a:p>
            <a:endParaRPr lang="en-US"/>
          </a:p>
        </p:txBody>
      </p:sp>
      <p:sp>
        <p:nvSpPr>
          <p:cNvPr id="5" name="Shape 3"/>
          <p:cNvSpPr/>
          <p:nvPr/>
        </p:nvSpPr>
        <p:spPr>
          <a:xfrm>
            <a:off x="11384280" y="850392"/>
            <a:ext cx="45720" cy="45720"/>
          </a:xfrm>
          <a:prstGeom prst="ellipse">
            <a:avLst/>
          </a:prstGeom>
          <a:solidFill>
            <a:srgbClr val="39C6D8"/>
          </a:solidFill>
          <a:ln w="12700">
            <a:solidFill>
              <a:srgbClr val="39C6D8">
                <a:alpha val="0"/>
              </a:srgbClr>
            </a:solidFill>
            <a:prstDash val="solid"/>
          </a:ln>
        </p:spPr>
        <p:txBody>
          <a:bodyPr/>
          <a:lstStyle/>
          <a:p>
            <a:endParaRPr lang="en-US"/>
          </a:p>
        </p:txBody>
      </p:sp>
      <p:sp>
        <p:nvSpPr>
          <p:cNvPr id="6" name="Shape 4"/>
          <p:cNvSpPr/>
          <p:nvPr/>
        </p:nvSpPr>
        <p:spPr>
          <a:xfrm>
            <a:off x="11631168" y="1106424"/>
            <a:ext cx="36576" cy="36576"/>
          </a:xfrm>
          <a:prstGeom prst="ellipse">
            <a:avLst/>
          </a:prstGeom>
          <a:solidFill>
            <a:srgbClr val="2F78D8"/>
          </a:solidFill>
          <a:ln w="12700">
            <a:solidFill>
              <a:srgbClr val="2F78D8">
                <a:alpha val="0"/>
              </a:srgbClr>
            </a:solidFill>
            <a:prstDash val="solid"/>
          </a:ln>
        </p:spPr>
        <p:txBody>
          <a:bodyPr/>
          <a:lstStyle/>
          <a:p>
            <a:endParaRPr lang="en-US"/>
          </a:p>
        </p:txBody>
      </p:sp>
      <p:sp>
        <p:nvSpPr>
          <p:cNvPr id="7" name="Shape 5"/>
          <p:cNvSpPr/>
          <p:nvPr/>
        </p:nvSpPr>
        <p:spPr>
          <a:xfrm>
            <a:off x="-1371600" y="5166360"/>
            <a:ext cx="2926080" cy="2926080"/>
          </a:xfrm>
          <a:prstGeom prst="ellipse">
            <a:avLst/>
          </a:prstGeom>
          <a:solidFill>
            <a:srgbClr val="1E224E">
              <a:alpha val="0"/>
            </a:srgbClr>
          </a:solidFill>
          <a:ln w="12700">
            <a:solidFill>
              <a:srgbClr val="39C6D8">
                <a:alpha val="26000"/>
              </a:srgbClr>
            </a:solidFill>
            <a:prstDash val="solid"/>
          </a:ln>
        </p:spPr>
        <p:txBody>
          <a:bodyPr/>
          <a:lstStyle/>
          <a:p>
            <a:endParaRPr lang="en-US"/>
          </a:p>
        </p:txBody>
      </p:sp>
      <p:sp>
        <p:nvSpPr>
          <p:cNvPr id="9" name="Shape 6"/>
          <p:cNvSpPr/>
          <p:nvPr/>
        </p:nvSpPr>
        <p:spPr>
          <a:xfrm>
            <a:off x="566928" y="576072"/>
            <a:ext cx="73152" cy="5166360"/>
          </a:xfrm>
          <a:prstGeom prst="rect">
            <a:avLst/>
          </a:prstGeom>
          <a:solidFill>
            <a:srgbClr val="39C6D8"/>
          </a:solidFill>
          <a:ln w="12700">
            <a:solidFill>
              <a:srgbClr val="39C6D8"/>
            </a:solidFill>
            <a:prstDash val="solid"/>
          </a:ln>
        </p:spPr>
        <p:txBody>
          <a:bodyPr/>
          <a:lstStyle/>
          <a:p>
            <a:endParaRPr lang="en-US"/>
          </a:p>
        </p:txBody>
      </p:sp>
      <p:sp>
        <p:nvSpPr>
          <p:cNvPr id="12" name="Text 9"/>
          <p:cNvSpPr/>
          <p:nvPr/>
        </p:nvSpPr>
        <p:spPr>
          <a:xfrm>
            <a:off x="850392" y="1234440"/>
            <a:ext cx="6812280" cy="1691640"/>
          </a:xfrm>
          <a:prstGeom prst="rect">
            <a:avLst/>
          </a:prstGeom>
          <a:noFill/>
          <a:ln/>
        </p:spPr>
        <p:txBody>
          <a:bodyPr wrap="square" lIns="0" tIns="0" rIns="0" bIns="0" rtlCol="0" anchor="ctr">
            <a:normAutofit/>
          </a:bodyPr>
          <a:lstStyle/>
          <a:p>
            <a:pPr marL="0" indent="0">
              <a:buNone/>
            </a:pPr>
            <a:r>
              <a:rPr lang="en-US" sz="3800" b="1">
                <a:solidFill>
                  <a:srgbClr val="F8FBFF"/>
                </a:solidFill>
                <a:latin typeface="Carlito" pitchFamily="34" charset="0"/>
                <a:ea typeface="Carlito" pitchFamily="34" charset="-122"/>
                <a:cs typeface="Carlito" pitchFamily="34" charset="-120"/>
              </a:rPr>
              <a:t>Build MCP Agents Locally</a:t>
            </a:r>
            <a:endParaRPr lang="en-US" sz="3800" dirty="0"/>
          </a:p>
        </p:txBody>
      </p:sp>
      <p:sp>
        <p:nvSpPr>
          <p:cNvPr id="13" name="Text 10"/>
          <p:cNvSpPr/>
          <p:nvPr/>
        </p:nvSpPr>
        <p:spPr>
          <a:xfrm>
            <a:off x="877824" y="3154680"/>
            <a:ext cx="6126480" cy="502920"/>
          </a:xfrm>
          <a:prstGeom prst="rect">
            <a:avLst/>
          </a:prstGeom>
          <a:noFill/>
          <a:ln/>
        </p:spPr>
        <p:txBody>
          <a:bodyPr wrap="square" lIns="0" tIns="0" rIns="0" bIns="0" rtlCol="0" anchor="ctr"/>
          <a:lstStyle/>
          <a:p>
            <a:pPr marL="0" indent="0">
              <a:buNone/>
            </a:pPr>
            <a:r>
              <a:rPr lang="en-GB" sz="1600">
                <a:solidFill>
                  <a:srgbClr val="AAB7D8"/>
                </a:solidFill>
                <a:latin typeface="Carlito" pitchFamily="34" charset="0"/>
                <a:ea typeface="Carlito" pitchFamily="34" charset="-122"/>
                <a:cs typeface="Carlito" pitchFamily="34" charset="-120"/>
              </a:rPr>
              <a:t>From protocol basics to a responsive offline agent in 90 minutes</a:t>
            </a:r>
            <a:endParaRPr lang="en-US" sz="1600" dirty="0"/>
          </a:p>
        </p:txBody>
      </p:sp>
      <p:sp>
        <p:nvSpPr>
          <p:cNvPr id="14" name="Text 11"/>
          <p:cNvSpPr/>
          <p:nvPr/>
        </p:nvSpPr>
        <p:spPr>
          <a:xfrm>
            <a:off x="877824" y="4160520"/>
            <a:ext cx="2468880" cy="274320"/>
          </a:xfrm>
          <a:prstGeom prst="rect">
            <a:avLst/>
          </a:prstGeom>
          <a:noFill/>
          <a:ln/>
        </p:spPr>
        <p:txBody>
          <a:bodyPr wrap="square" lIns="0" tIns="0" rIns="0" bIns="0" rtlCol="0" anchor="ctr"/>
          <a:lstStyle/>
          <a:p>
            <a:pPr marL="0" indent="0">
              <a:buNone/>
            </a:pPr>
            <a:r>
              <a:rPr lang="en-US" sz="1300" b="1" kern="0" spc="140">
                <a:solidFill>
                  <a:srgbClr val="68E1E8"/>
                </a:solidFill>
                <a:latin typeface="Carlito" pitchFamily="34" charset="0"/>
                <a:ea typeface="Carlito" pitchFamily="34" charset="-122"/>
                <a:cs typeface="Carlito" pitchFamily="34" charset="-120"/>
              </a:rPr>
              <a:t>HANDS-ON WORKSHOP</a:t>
            </a:r>
            <a:endParaRPr lang="en-US" sz="1300" dirty="0"/>
          </a:p>
        </p:txBody>
      </p:sp>
      <p:sp>
        <p:nvSpPr>
          <p:cNvPr id="15" name="Text 12"/>
          <p:cNvSpPr/>
          <p:nvPr/>
        </p:nvSpPr>
        <p:spPr>
          <a:xfrm>
            <a:off x="877824" y="4480560"/>
            <a:ext cx="4389120" cy="274320"/>
          </a:xfrm>
          <a:prstGeom prst="rect">
            <a:avLst/>
          </a:prstGeom>
          <a:noFill/>
          <a:ln/>
        </p:spPr>
        <p:txBody>
          <a:bodyPr wrap="square" lIns="0" tIns="0" rIns="0" bIns="0" rtlCol="0" anchor="ctr"/>
          <a:lstStyle/>
          <a:p>
            <a:pPr marL="0" indent="0">
              <a:buNone/>
            </a:pPr>
            <a:r>
              <a:rPr lang="en-GB" sz="1400">
                <a:solidFill>
                  <a:srgbClr val="F8FBFF"/>
                </a:solidFill>
                <a:latin typeface="Carlito" pitchFamily="34" charset="0"/>
                <a:ea typeface="Carlito" pitchFamily="34" charset="-122"/>
                <a:cs typeface="Carlito" pitchFamily="34" charset="-120"/>
              </a:rPr>
              <a:t>FastMCP 4 | Foundry Local | Python</a:t>
            </a:r>
            <a:endParaRPr lang="en-US" sz="1400" dirty="0"/>
          </a:p>
        </p:txBody>
      </p:sp>
      <p:sp>
        <p:nvSpPr>
          <p:cNvPr id="16" name="Text 13"/>
          <p:cNvSpPr/>
          <p:nvPr/>
        </p:nvSpPr>
        <p:spPr>
          <a:xfrm>
            <a:off x="877824" y="5074920"/>
            <a:ext cx="4480560" cy="274320"/>
          </a:xfrm>
          <a:prstGeom prst="rect">
            <a:avLst/>
          </a:prstGeom>
          <a:noFill/>
          <a:ln/>
        </p:spPr>
        <p:txBody>
          <a:bodyPr wrap="square" lIns="0" tIns="0" rIns="0" bIns="0" rtlCol="0" anchor="ctr"/>
          <a:lstStyle/>
          <a:p>
            <a:pPr marL="0" indent="0">
              <a:buNone/>
            </a:pPr>
            <a:r>
              <a:rPr lang="en-US" sz="1100" b="1" dirty="0">
                <a:solidFill>
                  <a:srgbClr val="AAB7D8"/>
                </a:solidFill>
                <a:latin typeface="Carlito" pitchFamily="34" charset="0"/>
                <a:ea typeface="Carlito" pitchFamily="34" charset="-122"/>
                <a:cs typeface="Carlito" pitchFamily="34" charset="-120"/>
              </a:rPr>
              <a:t>MCP Community Connect Bengaluru</a:t>
            </a:r>
            <a:endParaRPr lang="en-US" sz="1100" dirty="0"/>
          </a:p>
        </p:txBody>
      </p:sp>
      <p:sp>
        <p:nvSpPr>
          <p:cNvPr id="17" name="Text 14"/>
          <p:cNvSpPr/>
          <p:nvPr/>
        </p:nvSpPr>
        <p:spPr>
          <a:xfrm>
            <a:off x="877824" y="5376672"/>
            <a:ext cx="3657600" cy="228600"/>
          </a:xfrm>
          <a:prstGeom prst="rect">
            <a:avLst/>
          </a:prstGeom>
          <a:noFill/>
          <a:ln/>
        </p:spPr>
        <p:txBody>
          <a:bodyPr wrap="square" lIns="0" tIns="0" rIns="0" bIns="0" rtlCol="0" anchor="ctr"/>
          <a:lstStyle/>
          <a:p>
            <a:pPr marL="0" indent="0">
              <a:buNone/>
            </a:pPr>
            <a:r>
              <a:rPr lang="en-US" sz="1000" dirty="0">
                <a:solidFill>
                  <a:srgbClr val="AAB7D8"/>
                </a:solidFill>
                <a:latin typeface="Carlito" pitchFamily="34" charset="0"/>
                <a:ea typeface="Carlito" pitchFamily="34" charset="-122"/>
                <a:cs typeface="Carlito" pitchFamily="34" charset="-120"/>
              </a:rPr>
              <a:t>26 September 2026</a:t>
            </a:r>
            <a:endParaRPr lang="en-US" sz="1000" dirty="0"/>
          </a:p>
        </p:txBody>
      </p:sp>
      <p:pic>
        <p:nvPicPr>
          <p:cNvPr id="19" name="Image 1" descr="/mnt/data/bengaluru_skyline_in_cyan_line_art.png"/>
          <p:cNvPicPr>
            <a:picLocks noChangeAspect="1"/>
          </p:cNvPicPr>
          <p:nvPr/>
        </p:nvPicPr>
        <p:blipFill>
          <a:blip r:embed="rId3">
            <a:alphaModFix amt="25000"/>
          </a:blip>
          <a:stretch>
            <a:fillRect/>
          </a:stretch>
        </p:blipFill>
        <p:spPr>
          <a:xfrm>
            <a:off x="7592862" y="5230368"/>
            <a:ext cx="3422315" cy="1143000"/>
          </a:xfrm>
          <a:prstGeom prst="rect">
            <a:avLst/>
          </a:prstGeom>
        </p:spPr>
      </p:pic>
      <p:sp>
        <p:nvSpPr>
          <p:cNvPr id="25" name="Slide Number Placeholder 0"/>
          <p:cNvSpPr>
            <a:spLocks noGrp="1"/>
          </p:cNvSpPr>
          <p:nvPr>
            <p:ph type="sldNum" sz="quarter" idx="4294967295"/>
          </p:nvPr>
        </p:nvSpPr>
        <p:spPr>
          <a:xfrm>
            <a:off x="11777472" y="6455664"/>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AAB7D8"/>
                </a:solidFill>
                <a:latin typeface="Carlito"/>
                <a:ea typeface="Carlito"/>
                <a:cs typeface="Carlito"/>
              </a:defRPr>
            </a:lvl1pPr>
          </a:lstStyle>
          <a:p>
            <a:pPr algn="l"/>
            <a:r>
              <a:rPr lang="en-US" b="0"/>
              <a:t>1</a:t>
            </a:r>
            <a:endParaRPr lang="en-US"/>
          </a:p>
        </p:txBody>
      </p:sp>
      <p:pic>
        <p:nvPicPr>
          <p:cNvPr id="21" name="Picture 20">
            <a:extLst>
              <a:ext uri="{FF2B5EF4-FFF2-40B4-BE49-F238E27FC236}">
                <a16:creationId xmlns:a16="http://schemas.microsoft.com/office/drawing/2014/main" id="{A918BD17-FC34-2986-89DE-2EF3764ACDC4}"/>
              </a:ext>
            </a:extLst>
          </p:cNvPr>
          <p:cNvPicPr>
            <a:picLocks noChangeAspect="1"/>
          </p:cNvPicPr>
          <p:nvPr/>
        </p:nvPicPr>
        <p:blipFill>
          <a:blip r:embed="rId4"/>
          <a:stretch>
            <a:fillRect/>
          </a:stretch>
        </p:blipFill>
        <p:spPr>
          <a:xfrm>
            <a:off x="7723515" y="1194757"/>
            <a:ext cx="3590661" cy="359066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9966960" y="-1143000"/>
            <a:ext cx="3383280" cy="3383280"/>
          </a:xfrm>
          <a:prstGeom prst="ellipse">
            <a:avLst/>
          </a:prstGeom>
          <a:solidFill>
            <a:srgbClr val="1E224E">
              <a:alpha val="0"/>
            </a:srgbClr>
          </a:solidFill>
          <a:ln w="16510">
            <a:solidFill>
              <a:srgbClr val="39C6D8">
                <a:alpha val="38000"/>
              </a:srgbClr>
            </a:solidFill>
            <a:prstDash val="solid"/>
          </a:ln>
        </p:spPr>
        <p:txBody>
          <a:bodyPr/>
          <a:lstStyle/>
          <a:p>
            <a:endParaRPr lang="en-US"/>
          </a:p>
        </p:txBody>
      </p:sp>
      <p:sp>
        <p:nvSpPr>
          <p:cNvPr id="3" name="Shape 1"/>
          <p:cNvSpPr/>
          <p:nvPr/>
        </p:nvSpPr>
        <p:spPr>
          <a:xfrm>
            <a:off x="10469880" y="-658368"/>
            <a:ext cx="2423160" cy="2423160"/>
          </a:xfrm>
          <a:prstGeom prst="ellipse">
            <a:avLst/>
          </a:prstGeom>
          <a:solidFill>
            <a:srgbClr val="1E224E">
              <a:alpha val="0"/>
            </a:srgbClr>
          </a:solidFill>
          <a:ln w="12700">
            <a:solidFill>
              <a:srgbClr val="2F78D8">
                <a:alpha val="42000"/>
              </a:srgbClr>
            </a:solidFill>
            <a:prstDash val="solid"/>
          </a:ln>
        </p:spPr>
        <p:txBody>
          <a:bodyPr/>
          <a:lstStyle/>
          <a:p>
            <a:endParaRPr lang="en-US"/>
          </a:p>
        </p:txBody>
      </p:sp>
      <p:sp>
        <p:nvSpPr>
          <p:cNvPr id="4" name="Shape 2"/>
          <p:cNvSpPr/>
          <p:nvPr/>
        </p:nvSpPr>
        <p:spPr>
          <a:xfrm>
            <a:off x="11109960" y="594360"/>
            <a:ext cx="73152" cy="73152"/>
          </a:xfrm>
          <a:prstGeom prst="ellipse">
            <a:avLst/>
          </a:prstGeom>
          <a:solidFill>
            <a:srgbClr val="68E1E8"/>
          </a:solidFill>
          <a:ln w="12700">
            <a:solidFill>
              <a:srgbClr val="68E1E8">
                <a:alpha val="0"/>
              </a:srgbClr>
            </a:solidFill>
            <a:prstDash val="solid"/>
          </a:ln>
        </p:spPr>
        <p:txBody>
          <a:bodyPr/>
          <a:lstStyle/>
          <a:p>
            <a:endParaRPr lang="en-US"/>
          </a:p>
        </p:txBody>
      </p:sp>
      <p:sp>
        <p:nvSpPr>
          <p:cNvPr id="5" name="Shape 3"/>
          <p:cNvSpPr/>
          <p:nvPr/>
        </p:nvSpPr>
        <p:spPr>
          <a:xfrm>
            <a:off x="11384280" y="850392"/>
            <a:ext cx="45720" cy="45720"/>
          </a:xfrm>
          <a:prstGeom prst="ellipse">
            <a:avLst/>
          </a:prstGeom>
          <a:solidFill>
            <a:srgbClr val="39C6D8"/>
          </a:solidFill>
          <a:ln w="12700">
            <a:solidFill>
              <a:srgbClr val="39C6D8">
                <a:alpha val="0"/>
              </a:srgbClr>
            </a:solidFill>
            <a:prstDash val="solid"/>
          </a:ln>
        </p:spPr>
        <p:txBody>
          <a:bodyPr/>
          <a:lstStyle/>
          <a:p>
            <a:endParaRPr lang="en-US"/>
          </a:p>
        </p:txBody>
      </p:sp>
      <p:sp>
        <p:nvSpPr>
          <p:cNvPr id="6" name="Shape 4"/>
          <p:cNvSpPr/>
          <p:nvPr/>
        </p:nvSpPr>
        <p:spPr>
          <a:xfrm>
            <a:off x="11631168" y="1106424"/>
            <a:ext cx="36576" cy="36576"/>
          </a:xfrm>
          <a:prstGeom prst="ellipse">
            <a:avLst/>
          </a:prstGeom>
          <a:solidFill>
            <a:srgbClr val="2F78D8"/>
          </a:solidFill>
          <a:ln w="12700">
            <a:solidFill>
              <a:srgbClr val="2F78D8">
                <a:alpha val="0"/>
              </a:srgbClr>
            </a:solidFill>
            <a:prstDash val="solid"/>
          </a:ln>
        </p:spPr>
        <p:txBody>
          <a:bodyPr/>
          <a:lstStyle/>
          <a:p>
            <a:endParaRPr lang="en-US"/>
          </a:p>
        </p:txBody>
      </p:sp>
      <p:sp>
        <p:nvSpPr>
          <p:cNvPr id="7" name="Shape 5"/>
          <p:cNvSpPr/>
          <p:nvPr/>
        </p:nvSpPr>
        <p:spPr>
          <a:xfrm>
            <a:off x="-1371600" y="5166360"/>
            <a:ext cx="2926080" cy="2926080"/>
          </a:xfrm>
          <a:prstGeom prst="ellipse">
            <a:avLst/>
          </a:prstGeom>
          <a:solidFill>
            <a:srgbClr val="1E224E">
              <a:alpha val="0"/>
            </a:srgbClr>
          </a:solidFill>
          <a:ln w="12700">
            <a:solidFill>
              <a:srgbClr val="39C6D8">
                <a:alpha val="26000"/>
              </a:srgbClr>
            </a:solidFill>
            <a:prstDash val="solid"/>
          </a:ln>
        </p:spPr>
        <p:txBody>
          <a:bodyPr/>
          <a:lstStyle/>
          <a:p>
            <a:endParaRPr lang="en-US"/>
          </a:p>
        </p:txBody>
      </p:sp>
      <p:sp>
        <p:nvSpPr>
          <p:cNvPr id="13" name="Text 10"/>
          <p:cNvSpPr/>
          <p:nvPr/>
        </p:nvSpPr>
        <p:spPr>
          <a:xfrm>
            <a:off x="594360" y="868680"/>
            <a:ext cx="9966960" cy="658368"/>
          </a:xfrm>
          <a:prstGeom prst="rect">
            <a:avLst/>
          </a:prstGeom>
          <a:noFill/>
          <a:ln/>
        </p:spPr>
        <p:txBody>
          <a:bodyPr wrap="square" lIns="0" tIns="0" rIns="0" bIns="0" rtlCol="0" anchor="ctr"/>
          <a:lstStyle/>
          <a:p>
            <a:pPr marL="0" indent="0">
              <a:buNone/>
            </a:pPr>
            <a:r>
              <a:rPr lang="en-US" sz="2800" b="1">
                <a:solidFill>
                  <a:srgbClr val="F8FBFF"/>
                </a:solidFill>
                <a:latin typeface="Carlito" pitchFamily="34" charset="0"/>
                <a:ea typeface="Carlito" pitchFamily="34" charset="-122"/>
                <a:cs typeface="Carlito" pitchFamily="34" charset="-120"/>
              </a:rPr>
              <a:t>What you'll build</a:t>
            </a:r>
            <a:endParaRPr lang="en-US" sz="2800" dirty="0"/>
          </a:p>
        </p:txBody>
      </p:sp>
      <p:sp>
        <p:nvSpPr>
          <p:cNvPr id="14" name="Text 11"/>
          <p:cNvSpPr/>
          <p:nvPr/>
        </p:nvSpPr>
        <p:spPr>
          <a:xfrm>
            <a:off x="612648" y="1554480"/>
            <a:ext cx="9326880" cy="502920"/>
          </a:xfrm>
          <a:prstGeom prst="rect">
            <a:avLst/>
          </a:prstGeom>
          <a:noFill/>
          <a:ln/>
        </p:spPr>
        <p:txBody>
          <a:bodyPr wrap="square" lIns="0" tIns="0" rIns="0" bIns="0" rtlCol="0" anchor="ctr"/>
          <a:lstStyle/>
          <a:p>
            <a:r>
              <a:rPr lang="en-GB" sz="1400" dirty="0">
                <a:solidFill>
                  <a:srgbClr val="AAB7D8"/>
                </a:solidFill>
                <a:latin typeface="Carlito" pitchFamily="34" charset="0"/>
                <a:ea typeface="Carlito" pitchFamily="34" charset="-122"/>
                <a:cs typeface="Carlito" pitchFamily="34" charset="-120"/>
              </a:rPr>
              <a:t>A complete local path from protocol to browser. </a:t>
            </a:r>
            <a:r>
              <a:rPr lang="en-GB" b="1" dirty="0">
                <a:solidFill>
                  <a:schemeClr val="bg1"/>
                </a:solidFill>
              </a:rPr>
              <a:t> Enter the Lab at https://aka.ms/AA13mn27 Training key:407E34CF994AEF76</a:t>
            </a:r>
            <a:endParaRPr lang="en-US" sz="1400" b="1" dirty="0">
              <a:solidFill>
                <a:schemeClr val="bg1"/>
              </a:solidFill>
            </a:endParaRPr>
          </a:p>
        </p:txBody>
      </p:sp>
      <p:sp>
        <p:nvSpPr>
          <p:cNvPr id="15" name="Shape 12"/>
          <p:cNvSpPr/>
          <p:nvPr/>
        </p:nvSpPr>
        <p:spPr>
          <a:xfrm>
            <a:off x="658368" y="2331720"/>
            <a:ext cx="5074920" cy="1261872"/>
          </a:xfrm>
          <a:prstGeom prst="roundRect">
            <a:avLst>
              <a:gd name="adj" fmla="val 5797"/>
            </a:avLst>
          </a:prstGeom>
          <a:solidFill>
            <a:srgbClr val="29346C"/>
          </a:solidFill>
          <a:ln w="12700">
            <a:solidFill>
              <a:srgbClr val="39437F"/>
            </a:solidFill>
            <a:prstDash val="solid"/>
          </a:ln>
        </p:spPr>
        <p:txBody>
          <a:bodyPr/>
          <a:lstStyle/>
          <a:p>
            <a:endParaRPr lang="en-US"/>
          </a:p>
        </p:txBody>
      </p:sp>
      <p:sp>
        <p:nvSpPr>
          <p:cNvPr id="16" name="Shape 13"/>
          <p:cNvSpPr/>
          <p:nvPr/>
        </p:nvSpPr>
        <p:spPr>
          <a:xfrm>
            <a:off x="914400" y="2715768"/>
            <a:ext cx="438912" cy="438912"/>
          </a:xfrm>
          <a:prstGeom prst="ellipse">
            <a:avLst/>
          </a:prstGeom>
          <a:solidFill>
            <a:srgbClr val="68E1E8">
              <a:alpha val="15000"/>
            </a:srgbClr>
          </a:solidFill>
          <a:ln w="15240">
            <a:solidFill>
              <a:srgbClr val="68E1E8"/>
            </a:solidFill>
            <a:prstDash val="solid"/>
          </a:ln>
        </p:spPr>
        <p:txBody>
          <a:bodyPr/>
          <a:lstStyle/>
          <a:p>
            <a:endParaRPr lang="en-US"/>
          </a:p>
        </p:txBody>
      </p:sp>
      <p:sp>
        <p:nvSpPr>
          <p:cNvPr id="17" name="Text 14"/>
          <p:cNvSpPr/>
          <p:nvPr/>
        </p:nvSpPr>
        <p:spPr>
          <a:xfrm>
            <a:off x="914400" y="2798064"/>
            <a:ext cx="438912" cy="182880"/>
          </a:xfrm>
          <a:prstGeom prst="rect">
            <a:avLst/>
          </a:prstGeom>
          <a:noFill/>
          <a:ln/>
        </p:spPr>
        <p:txBody>
          <a:bodyPr wrap="square" lIns="0" tIns="0" rIns="0" bIns="0" rtlCol="0" anchor="ctr"/>
          <a:lstStyle/>
          <a:p>
            <a:pPr marL="0" indent="0" algn="ctr">
              <a:buNone/>
            </a:pPr>
            <a:r>
              <a:rPr lang="en-US" sz="1000" b="1" dirty="0">
                <a:solidFill>
                  <a:srgbClr val="68E1E8"/>
                </a:solidFill>
                <a:latin typeface="Carlito" pitchFamily="34" charset="0"/>
                <a:ea typeface="Carlito" pitchFamily="34" charset="-122"/>
                <a:cs typeface="Carlito" pitchFamily="34" charset="-120"/>
              </a:rPr>
              <a:t>01</a:t>
            </a:r>
            <a:endParaRPr lang="en-US" sz="1000" dirty="0"/>
          </a:p>
        </p:txBody>
      </p:sp>
      <p:sp>
        <p:nvSpPr>
          <p:cNvPr id="18" name="Text 15"/>
          <p:cNvSpPr/>
          <p:nvPr/>
        </p:nvSpPr>
        <p:spPr>
          <a:xfrm>
            <a:off x="1536192" y="2578608"/>
            <a:ext cx="2423160" cy="310896"/>
          </a:xfrm>
          <a:prstGeom prst="rect">
            <a:avLst/>
          </a:prstGeom>
          <a:noFill/>
          <a:ln/>
        </p:spPr>
        <p:txBody>
          <a:bodyPr wrap="square" lIns="0" tIns="0" rIns="0" bIns="0" rtlCol="0" anchor="ctr"/>
          <a:lstStyle/>
          <a:p>
            <a:pPr marL="0" indent="0">
              <a:buNone/>
            </a:pPr>
            <a:r>
              <a:rPr lang="en-US" sz="1800" b="1">
                <a:solidFill>
                  <a:srgbClr val="F8FBFF"/>
                </a:solidFill>
                <a:latin typeface="Carlito" pitchFamily="34" charset="0"/>
                <a:ea typeface="Carlito" pitchFamily="34" charset="-122"/>
                <a:cs typeface="Carlito" pitchFamily="34" charset="-120"/>
              </a:rPr>
              <a:t>Protocol</a:t>
            </a:r>
            <a:endParaRPr lang="en-US" sz="1800" dirty="0"/>
          </a:p>
        </p:txBody>
      </p:sp>
      <p:sp>
        <p:nvSpPr>
          <p:cNvPr id="19" name="Text 16"/>
          <p:cNvSpPr/>
          <p:nvPr/>
        </p:nvSpPr>
        <p:spPr>
          <a:xfrm>
            <a:off x="1536192" y="2971800"/>
            <a:ext cx="3794760" cy="384048"/>
          </a:xfrm>
          <a:prstGeom prst="rect">
            <a:avLst/>
          </a:prstGeom>
          <a:noFill/>
          <a:ln/>
        </p:spPr>
        <p:txBody>
          <a:bodyPr wrap="square" lIns="0" tIns="0" rIns="0" bIns="0" rtlCol="0" anchor="ctr"/>
          <a:lstStyle/>
          <a:p>
            <a:pPr marL="0" indent="0">
              <a:buNone/>
            </a:pPr>
            <a:r>
              <a:rPr lang="en-GB" sz="1150">
                <a:solidFill>
                  <a:srgbClr val="AAB7D8"/>
                </a:solidFill>
                <a:latin typeface="Carlito" pitchFamily="34" charset="0"/>
                <a:ea typeface="Carlito" pitchFamily="34" charset="-122"/>
                <a:cs typeface="Carlito" pitchFamily="34" charset="-120"/>
              </a:rPr>
              <a:t>See MCP discovery, schemas, requests, results, and errors.</a:t>
            </a:r>
            <a:endParaRPr lang="en-US" sz="1150" dirty="0"/>
          </a:p>
        </p:txBody>
      </p:sp>
      <p:sp>
        <p:nvSpPr>
          <p:cNvPr id="20" name="Shape 17"/>
          <p:cNvSpPr/>
          <p:nvPr/>
        </p:nvSpPr>
        <p:spPr>
          <a:xfrm>
            <a:off x="6163056" y="2331720"/>
            <a:ext cx="5074920" cy="1261872"/>
          </a:xfrm>
          <a:prstGeom prst="roundRect">
            <a:avLst>
              <a:gd name="adj" fmla="val 5797"/>
            </a:avLst>
          </a:prstGeom>
          <a:solidFill>
            <a:srgbClr val="262C61"/>
          </a:solidFill>
          <a:ln w="12700">
            <a:solidFill>
              <a:srgbClr val="39437F"/>
            </a:solidFill>
            <a:prstDash val="solid"/>
          </a:ln>
        </p:spPr>
        <p:txBody>
          <a:bodyPr/>
          <a:lstStyle/>
          <a:p>
            <a:endParaRPr lang="en-US"/>
          </a:p>
        </p:txBody>
      </p:sp>
      <p:sp>
        <p:nvSpPr>
          <p:cNvPr id="21" name="Shape 18"/>
          <p:cNvSpPr/>
          <p:nvPr/>
        </p:nvSpPr>
        <p:spPr>
          <a:xfrm>
            <a:off x="6419088" y="2715768"/>
            <a:ext cx="438912" cy="438912"/>
          </a:xfrm>
          <a:prstGeom prst="ellipse">
            <a:avLst/>
          </a:prstGeom>
          <a:solidFill>
            <a:srgbClr val="39C6D8">
              <a:alpha val="15000"/>
            </a:srgbClr>
          </a:solidFill>
          <a:ln w="15240">
            <a:solidFill>
              <a:srgbClr val="39C6D8"/>
            </a:solidFill>
            <a:prstDash val="solid"/>
          </a:ln>
        </p:spPr>
        <p:txBody>
          <a:bodyPr/>
          <a:lstStyle/>
          <a:p>
            <a:endParaRPr lang="en-US"/>
          </a:p>
        </p:txBody>
      </p:sp>
      <p:sp>
        <p:nvSpPr>
          <p:cNvPr id="22" name="Text 19"/>
          <p:cNvSpPr/>
          <p:nvPr/>
        </p:nvSpPr>
        <p:spPr>
          <a:xfrm>
            <a:off x="6419088" y="2798064"/>
            <a:ext cx="438912" cy="182880"/>
          </a:xfrm>
          <a:prstGeom prst="rect">
            <a:avLst/>
          </a:prstGeom>
          <a:noFill/>
          <a:ln/>
        </p:spPr>
        <p:txBody>
          <a:bodyPr wrap="square" lIns="0" tIns="0" rIns="0" bIns="0" rtlCol="0" anchor="ctr"/>
          <a:lstStyle/>
          <a:p>
            <a:pPr marL="0" indent="0" algn="ctr">
              <a:buNone/>
            </a:pPr>
            <a:r>
              <a:rPr lang="en-US" sz="1000" b="1" dirty="0">
                <a:solidFill>
                  <a:srgbClr val="39C6D8"/>
                </a:solidFill>
                <a:latin typeface="Carlito" pitchFamily="34" charset="0"/>
                <a:ea typeface="Carlito" pitchFamily="34" charset="-122"/>
                <a:cs typeface="Carlito" pitchFamily="34" charset="-120"/>
              </a:rPr>
              <a:t>02</a:t>
            </a:r>
            <a:endParaRPr lang="en-US" sz="1000" dirty="0"/>
          </a:p>
        </p:txBody>
      </p:sp>
      <p:sp>
        <p:nvSpPr>
          <p:cNvPr id="23" name="Text 20"/>
          <p:cNvSpPr/>
          <p:nvPr/>
        </p:nvSpPr>
        <p:spPr>
          <a:xfrm>
            <a:off x="7040880" y="2578608"/>
            <a:ext cx="2423160" cy="310896"/>
          </a:xfrm>
          <a:prstGeom prst="rect">
            <a:avLst/>
          </a:prstGeom>
          <a:noFill/>
          <a:ln/>
        </p:spPr>
        <p:txBody>
          <a:bodyPr wrap="square" lIns="0" tIns="0" rIns="0" bIns="0" rtlCol="0" anchor="ctr"/>
          <a:lstStyle/>
          <a:p>
            <a:pPr marL="0" indent="0">
              <a:buNone/>
            </a:pPr>
            <a:r>
              <a:rPr lang="en-US" sz="1800" b="1">
                <a:solidFill>
                  <a:srgbClr val="F8FBFF"/>
                </a:solidFill>
                <a:latin typeface="Carlito" pitchFamily="34" charset="0"/>
                <a:ea typeface="Carlito" pitchFamily="34" charset="-122"/>
                <a:cs typeface="Carlito" pitchFamily="34" charset="-120"/>
              </a:rPr>
              <a:t>Server</a:t>
            </a:r>
            <a:endParaRPr lang="en-US" sz="1800" dirty="0"/>
          </a:p>
        </p:txBody>
      </p:sp>
      <p:sp>
        <p:nvSpPr>
          <p:cNvPr id="24" name="Text 21"/>
          <p:cNvSpPr/>
          <p:nvPr/>
        </p:nvSpPr>
        <p:spPr>
          <a:xfrm>
            <a:off x="7040880" y="2971800"/>
            <a:ext cx="3794760" cy="384048"/>
          </a:xfrm>
          <a:prstGeom prst="rect">
            <a:avLst/>
          </a:prstGeom>
          <a:noFill/>
          <a:ln/>
        </p:spPr>
        <p:txBody>
          <a:bodyPr wrap="square" lIns="0" tIns="0" rIns="0" bIns="0" rtlCol="0" anchor="ctr"/>
          <a:lstStyle/>
          <a:p>
            <a:pPr marL="0" indent="0">
              <a:buNone/>
            </a:pPr>
            <a:r>
              <a:rPr lang="en-GB" sz="1150">
                <a:solidFill>
                  <a:srgbClr val="AAB7D8"/>
                </a:solidFill>
                <a:latin typeface="Carlito" pitchFamily="34" charset="0"/>
                <a:ea typeface="Carlito" pitchFamily="34" charset="-122"/>
                <a:cs typeface="Carlito" pitchFamily="34" charset="-120"/>
              </a:rPr>
              <a:t>Publish typed tools, a resource, and a prompt with FastMCP.</a:t>
            </a:r>
            <a:endParaRPr lang="en-US" sz="1150" dirty="0"/>
          </a:p>
        </p:txBody>
      </p:sp>
      <p:sp>
        <p:nvSpPr>
          <p:cNvPr id="25" name="Shape 22"/>
          <p:cNvSpPr/>
          <p:nvPr/>
        </p:nvSpPr>
        <p:spPr>
          <a:xfrm>
            <a:off x="658368" y="3904488"/>
            <a:ext cx="5074920" cy="1261872"/>
          </a:xfrm>
          <a:prstGeom prst="roundRect">
            <a:avLst>
              <a:gd name="adj" fmla="val 5797"/>
            </a:avLst>
          </a:prstGeom>
          <a:solidFill>
            <a:srgbClr val="262C61"/>
          </a:solidFill>
          <a:ln w="12700">
            <a:solidFill>
              <a:srgbClr val="39437F"/>
            </a:solidFill>
            <a:prstDash val="solid"/>
          </a:ln>
        </p:spPr>
        <p:txBody>
          <a:bodyPr/>
          <a:lstStyle/>
          <a:p>
            <a:endParaRPr lang="en-US"/>
          </a:p>
        </p:txBody>
      </p:sp>
      <p:sp>
        <p:nvSpPr>
          <p:cNvPr id="26" name="Shape 23"/>
          <p:cNvSpPr/>
          <p:nvPr/>
        </p:nvSpPr>
        <p:spPr>
          <a:xfrm>
            <a:off x="914400" y="4288536"/>
            <a:ext cx="438912" cy="438912"/>
          </a:xfrm>
          <a:prstGeom prst="ellipse">
            <a:avLst/>
          </a:prstGeom>
          <a:solidFill>
            <a:srgbClr val="39C6D8">
              <a:alpha val="15000"/>
            </a:srgbClr>
          </a:solidFill>
          <a:ln w="15240">
            <a:solidFill>
              <a:srgbClr val="39C6D8"/>
            </a:solidFill>
            <a:prstDash val="solid"/>
          </a:ln>
        </p:spPr>
        <p:txBody>
          <a:bodyPr/>
          <a:lstStyle/>
          <a:p>
            <a:endParaRPr lang="en-US"/>
          </a:p>
        </p:txBody>
      </p:sp>
      <p:sp>
        <p:nvSpPr>
          <p:cNvPr id="27" name="Text 24"/>
          <p:cNvSpPr/>
          <p:nvPr/>
        </p:nvSpPr>
        <p:spPr>
          <a:xfrm>
            <a:off x="914400" y="4370832"/>
            <a:ext cx="438912" cy="182880"/>
          </a:xfrm>
          <a:prstGeom prst="rect">
            <a:avLst/>
          </a:prstGeom>
          <a:noFill/>
          <a:ln/>
        </p:spPr>
        <p:txBody>
          <a:bodyPr wrap="square" lIns="0" tIns="0" rIns="0" bIns="0" rtlCol="0" anchor="ctr"/>
          <a:lstStyle/>
          <a:p>
            <a:pPr marL="0" indent="0" algn="ctr">
              <a:buNone/>
            </a:pPr>
            <a:r>
              <a:rPr lang="en-US" sz="1000" b="1" dirty="0">
                <a:solidFill>
                  <a:srgbClr val="39C6D8"/>
                </a:solidFill>
                <a:latin typeface="Carlito" pitchFamily="34" charset="0"/>
                <a:ea typeface="Carlito" pitchFamily="34" charset="-122"/>
                <a:cs typeface="Carlito" pitchFamily="34" charset="-120"/>
              </a:rPr>
              <a:t>03</a:t>
            </a:r>
            <a:endParaRPr lang="en-US" sz="1000" dirty="0"/>
          </a:p>
        </p:txBody>
      </p:sp>
      <p:sp>
        <p:nvSpPr>
          <p:cNvPr id="28" name="Text 25"/>
          <p:cNvSpPr/>
          <p:nvPr/>
        </p:nvSpPr>
        <p:spPr>
          <a:xfrm>
            <a:off x="1536192" y="4151376"/>
            <a:ext cx="2423160" cy="310896"/>
          </a:xfrm>
          <a:prstGeom prst="rect">
            <a:avLst/>
          </a:prstGeom>
          <a:noFill/>
          <a:ln/>
        </p:spPr>
        <p:txBody>
          <a:bodyPr wrap="square" lIns="0" tIns="0" rIns="0" bIns="0" rtlCol="0" anchor="ctr"/>
          <a:lstStyle/>
          <a:p>
            <a:pPr marL="0" indent="0">
              <a:buNone/>
            </a:pPr>
            <a:r>
              <a:rPr lang="en-US" sz="1800" b="1">
                <a:solidFill>
                  <a:srgbClr val="F8FBFF"/>
                </a:solidFill>
                <a:latin typeface="Carlito" pitchFamily="34" charset="0"/>
                <a:ea typeface="Carlito" pitchFamily="34" charset="-122"/>
                <a:cs typeface="Carlito" pitchFamily="34" charset="-120"/>
              </a:rPr>
              <a:t>Agent</a:t>
            </a:r>
            <a:endParaRPr lang="en-US" sz="1800" dirty="0"/>
          </a:p>
        </p:txBody>
      </p:sp>
      <p:sp>
        <p:nvSpPr>
          <p:cNvPr id="29" name="Text 26"/>
          <p:cNvSpPr/>
          <p:nvPr/>
        </p:nvSpPr>
        <p:spPr>
          <a:xfrm>
            <a:off x="1536192" y="4544568"/>
            <a:ext cx="3794760" cy="384048"/>
          </a:xfrm>
          <a:prstGeom prst="rect">
            <a:avLst/>
          </a:prstGeom>
          <a:noFill/>
          <a:ln/>
        </p:spPr>
        <p:txBody>
          <a:bodyPr wrap="square" lIns="0" tIns="0" rIns="0" bIns="0" rtlCol="0" anchor="ctr"/>
          <a:lstStyle/>
          <a:p>
            <a:pPr marL="0" indent="0">
              <a:buNone/>
            </a:pPr>
            <a:r>
              <a:rPr lang="en-GB" sz="1150">
                <a:solidFill>
                  <a:srgbClr val="AAB7D8"/>
                </a:solidFill>
                <a:latin typeface="Carlito" pitchFamily="34" charset="0"/>
                <a:ea typeface="Carlito" pitchFamily="34" charset="-122"/>
                <a:cs typeface="Carlito" pitchFamily="34" charset="-120"/>
              </a:rPr>
              <a:t>Connect a small Foundry Local model to trusted tool data.</a:t>
            </a:r>
            <a:endParaRPr lang="en-US" sz="1150" dirty="0"/>
          </a:p>
        </p:txBody>
      </p:sp>
      <p:sp>
        <p:nvSpPr>
          <p:cNvPr id="30" name="Shape 27"/>
          <p:cNvSpPr/>
          <p:nvPr/>
        </p:nvSpPr>
        <p:spPr>
          <a:xfrm>
            <a:off x="6163056" y="3904488"/>
            <a:ext cx="5074920" cy="1261872"/>
          </a:xfrm>
          <a:prstGeom prst="roundRect">
            <a:avLst>
              <a:gd name="adj" fmla="val 5797"/>
            </a:avLst>
          </a:prstGeom>
          <a:solidFill>
            <a:srgbClr val="262C61"/>
          </a:solidFill>
          <a:ln w="12700">
            <a:solidFill>
              <a:srgbClr val="39437F"/>
            </a:solidFill>
            <a:prstDash val="solid"/>
          </a:ln>
        </p:spPr>
        <p:txBody>
          <a:bodyPr/>
          <a:lstStyle/>
          <a:p>
            <a:endParaRPr lang="en-US"/>
          </a:p>
        </p:txBody>
      </p:sp>
      <p:sp>
        <p:nvSpPr>
          <p:cNvPr id="31" name="Shape 28"/>
          <p:cNvSpPr/>
          <p:nvPr/>
        </p:nvSpPr>
        <p:spPr>
          <a:xfrm>
            <a:off x="6419088" y="4288536"/>
            <a:ext cx="438912" cy="438912"/>
          </a:xfrm>
          <a:prstGeom prst="ellipse">
            <a:avLst/>
          </a:prstGeom>
          <a:solidFill>
            <a:srgbClr val="39C6D8">
              <a:alpha val="15000"/>
            </a:srgbClr>
          </a:solidFill>
          <a:ln w="15240">
            <a:solidFill>
              <a:srgbClr val="39C6D8"/>
            </a:solidFill>
            <a:prstDash val="solid"/>
          </a:ln>
        </p:spPr>
        <p:txBody>
          <a:bodyPr/>
          <a:lstStyle/>
          <a:p>
            <a:endParaRPr lang="en-US"/>
          </a:p>
        </p:txBody>
      </p:sp>
      <p:sp>
        <p:nvSpPr>
          <p:cNvPr id="32" name="Text 29"/>
          <p:cNvSpPr/>
          <p:nvPr/>
        </p:nvSpPr>
        <p:spPr>
          <a:xfrm>
            <a:off x="6419088" y="4370832"/>
            <a:ext cx="438912" cy="182880"/>
          </a:xfrm>
          <a:prstGeom prst="rect">
            <a:avLst/>
          </a:prstGeom>
          <a:noFill/>
          <a:ln/>
        </p:spPr>
        <p:txBody>
          <a:bodyPr wrap="square" lIns="0" tIns="0" rIns="0" bIns="0" rtlCol="0" anchor="ctr"/>
          <a:lstStyle/>
          <a:p>
            <a:pPr marL="0" indent="0" algn="ctr">
              <a:buNone/>
            </a:pPr>
            <a:r>
              <a:rPr lang="en-US" sz="1000" b="1" dirty="0">
                <a:solidFill>
                  <a:srgbClr val="39C6D8"/>
                </a:solidFill>
                <a:latin typeface="Carlito" pitchFamily="34" charset="0"/>
                <a:ea typeface="Carlito" pitchFamily="34" charset="-122"/>
                <a:cs typeface="Carlito" pitchFamily="34" charset="-120"/>
              </a:rPr>
              <a:t>04</a:t>
            </a:r>
            <a:endParaRPr lang="en-US" sz="1000" dirty="0"/>
          </a:p>
        </p:txBody>
      </p:sp>
      <p:sp>
        <p:nvSpPr>
          <p:cNvPr id="33" name="Text 30"/>
          <p:cNvSpPr/>
          <p:nvPr/>
        </p:nvSpPr>
        <p:spPr>
          <a:xfrm>
            <a:off x="7040880" y="4151376"/>
            <a:ext cx="2423160" cy="310896"/>
          </a:xfrm>
          <a:prstGeom prst="rect">
            <a:avLst/>
          </a:prstGeom>
          <a:noFill/>
          <a:ln/>
        </p:spPr>
        <p:txBody>
          <a:bodyPr wrap="square" lIns="0" tIns="0" rIns="0" bIns="0" rtlCol="0" anchor="ctr"/>
          <a:lstStyle/>
          <a:p>
            <a:pPr marL="0" indent="0">
              <a:buNone/>
            </a:pPr>
            <a:r>
              <a:rPr lang="en-US" sz="1800" b="1">
                <a:solidFill>
                  <a:srgbClr val="F8FBFF"/>
                </a:solidFill>
                <a:latin typeface="Carlito" pitchFamily="34" charset="0"/>
                <a:ea typeface="Carlito" pitchFamily="34" charset="-122"/>
                <a:cs typeface="Carlito" pitchFamily="34" charset="-120"/>
              </a:rPr>
              <a:t>Controls</a:t>
            </a:r>
            <a:endParaRPr lang="en-US" sz="1800" dirty="0"/>
          </a:p>
        </p:txBody>
      </p:sp>
      <p:sp>
        <p:nvSpPr>
          <p:cNvPr id="34" name="Text 31"/>
          <p:cNvSpPr/>
          <p:nvPr/>
        </p:nvSpPr>
        <p:spPr>
          <a:xfrm>
            <a:off x="7040880" y="4544568"/>
            <a:ext cx="3794760" cy="384048"/>
          </a:xfrm>
          <a:prstGeom prst="rect">
            <a:avLst/>
          </a:prstGeom>
          <a:noFill/>
          <a:ln/>
        </p:spPr>
        <p:txBody>
          <a:bodyPr wrap="square" lIns="0" tIns="0" rIns="0" bIns="0" rtlCol="0" anchor="ctr"/>
          <a:lstStyle/>
          <a:p>
            <a:pPr marL="0" indent="0">
              <a:buNone/>
            </a:pPr>
            <a:r>
              <a:rPr lang="en-GB" sz="1150">
                <a:solidFill>
                  <a:srgbClr val="AAB7D8"/>
                </a:solidFill>
                <a:latin typeface="Carlito" pitchFamily="34" charset="0"/>
                <a:ea typeface="Carlito" pitchFamily="34" charset="-122"/>
                <a:cs typeface="Carlito" pitchFamily="34" charset="-120"/>
              </a:rPr>
              <a:t>Add validation, approval, limits, and production boundaries.</a:t>
            </a:r>
            <a:endParaRPr lang="en-US" sz="1150" dirty="0"/>
          </a:p>
        </p:txBody>
      </p:sp>
      <p:sp>
        <p:nvSpPr>
          <p:cNvPr id="35" name="Slide Number Placeholder 0"/>
          <p:cNvSpPr>
            <a:spLocks noGrp="1"/>
          </p:cNvSpPr>
          <p:nvPr>
            <p:ph type="sldNum" sz="quarter" idx="4294967295"/>
          </p:nvPr>
        </p:nvSpPr>
        <p:spPr>
          <a:xfrm>
            <a:off x="11777472" y="6455664"/>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AAB7D8"/>
                </a:solidFill>
                <a:latin typeface="Carlito"/>
                <a:ea typeface="Carlito"/>
                <a:cs typeface="Carlito"/>
              </a:defRPr>
            </a:lvl1pPr>
          </a:lstStyle>
          <a:p>
            <a:pPr algn="l"/>
            <a:r>
              <a:rPr lang="en-US" b="0"/>
              <a:t>2</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9966960" y="-1143000"/>
            <a:ext cx="3383280" cy="3383280"/>
          </a:xfrm>
          <a:prstGeom prst="ellipse">
            <a:avLst/>
          </a:prstGeom>
          <a:solidFill>
            <a:srgbClr val="1E224E">
              <a:alpha val="0"/>
            </a:srgbClr>
          </a:solidFill>
          <a:ln w="16510">
            <a:solidFill>
              <a:srgbClr val="39C6D8">
                <a:alpha val="38000"/>
              </a:srgbClr>
            </a:solidFill>
            <a:prstDash val="solid"/>
          </a:ln>
        </p:spPr>
        <p:txBody>
          <a:bodyPr/>
          <a:lstStyle/>
          <a:p>
            <a:endParaRPr lang="en-US"/>
          </a:p>
        </p:txBody>
      </p:sp>
      <p:sp>
        <p:nvSpPr>
          <p:cNvPr id="3" name="Shape 1"/>
          <p:cNvSpPr/>
          <p:nvPr/>
        </p:nvSpPr>
        <p:spPr>
          <a:xfrm>
            <a:off x="10469880" y="-658368"/>
            <a:ext cx="2423160" cy="2423160"/>
          </a:xfrm>
          <a:prstGeom prst="ellipse">
            <a:avLst/>
          </a:prstGeom>
          <a:solidFill>
            <a:srgbClr val="1E224E">
              <a:alpha val="0"/>
            </a:srgbClr>
          </a:solidFill>
          <a:ln w="12700">
            <a:solidFill>
              <a:srgbClr val="2F78D8">
                <a:alpha val="42000"/>
              </a:srgbClr>
            </a:solidFill>
            <a:prstDash val="solid"/>
          </a:ln>
        </p:spPr>
        <p:txBody>
          <a:bodyPr/>
          <a:lstStyle/>
          <a:p>
            <a:endParaRPr lang="en-US"/>
          </a:p>
        </p:txBody>
      </p:sp>
      <p:sp>
        <p:nvSpPr>
          <p:cNvPr id="4" name="Shape 2"/>
          <p:cNvSpPr/>
          <p:nvPr/>
        </p:nvSpPr>
        <p:spPr>
          <a:xfrm>
            <a:off x="11109960" y="594360"/>
            <a:ext cx="73152" cy="73152"/>
          </a:xfrm>
          <a:prstGeom prst="ellipse">
            <a:avLst/>
          </a:prstGeom>
          <a:solidFill>
            <a:srgbClr val="68E1E8"/>
          </a:solidFill>
          <a:ln w="12700">
            <a:solidFill>
              <a:srgbClr val="68E1E8">
                <a:alpha val="0"/>
              </a:srgbClr>
            </a:solidFill>
            <a:prstDash val="solid"/>
          </a:ln>
        </p:spPr>
        <p:txBody>
          <a:bodyPr/>
          <a:lstStyle/>
          <a:p>
            <a:endParaRPr lang="en-US"/>
          </a:p>
        </p:txBody>
      </p:sp>
      <p:sp>
        <p:nvSpPr>
          <p:cNvPr id="5" name="Shape 3"/>
          <p:cNvSpPr/>
          <p:nvPr/>
        </p:nvSpPr>
        <p:spPr>
          <a:xfrm>
            <a:off x="11384280" y="850392"/>
            <a:ext cx="45720" cy="45720"/>
          </a:xfrm>
          <a:prstGeom prst="ellipse">
            <a:avLst/>
          </a:prstGeom>
          <a:solidFill>
            <a:srgbClr val="39C6D8"/>
          </a:solidFill>
          <a:ln w="12700">
            <a:solidFill>
              <a:srgbClr val="39C6D8">
                <a:alpha val="0"/>
              </a:srgbClr>
            </a:solidFill>
            <a:prstDash val="solid"/>
          </a:ln>
        </p:spPr>
        <p:txBody>
          <a:bodyPr/>
          <a:lstStyle/>
          <a:p>
            <a:endParaRPr lang="en-US"/>
          </a:p>
        </p:txBody>
      </p:sp>
      <p:sp>
        <p:nvSpPr>
          <p:cNvPr id="6" name="Shape 4"/>
          <p:cNvSpPr/>
          <p:nvPr/>
        </p:nvSpPr>
        <p:spPr>
          <a:xfrm>
            <a:off x="11631168" y="1106424"/>
            <a:ext cx="36576" cy="36576"/>
          </a:xfrm>
          <a:prstGeom prst="ellipse">
            <a:avLst/>
          </a:prstGeom>
          <a:solidFill>
            <a:srgbClr val="2F78D8"/>
          </a:solidFill>
          <a:ln w="12700">
            <a:solidFill>
              <a:srgbClr val="2F78D8">
                <a:alpha val="0"/>
              </a:srgbClr>
            </a:solidFill>
            <a:prstDash val="solid"/>
          </a:ln>
        </p:spPr>
        <p:txBody>
          <a:bodyPr/>
          <a:lstStyle/>
          <a:p>
            <a:endParaRPr lang="en-US"/>
          </a:p>
        </p:txBody>
      </p:sp>
      <p:sp>
        <p:nvSpPr>
          <p:cNvPr id="7" name="Shape 5"/>
          <p:cNvSpPr/>
          <p:nvPr/>
        </p:nvSpPr>
        <p:spPr>
          <a:xfrm>
            <a:off x="-1371600" y="5166360"/>
            <a:ext cx="2926080" cy="2926080"/>
          </a:xfrm>
          <a:prstGeom prst="ellipse">
            <a:avLst/>
          </a:prstGeom>
          <a:solidFill>
            <a:srgbClr val="1E224E">
              <a:alpha val="0"/>
            </a:srgbClr>
          </a:solidFill>
          <a:ln w="12700">
            <a:solidFill>
              <a:srgbClr val="39C6D8">
                <a:alpha val="26000"/>
              </a:srgbClr>
            </a:solidFill>
            <a:prstDash val="solid"/>
          </a:ln>
        </p:spPr>
        <p:txBody>
          <a:bodyPr/>
          <a:lstStyle/>
          <a:p>
            <a:endParaRPr lang="en-US"/>
          </a:p>
        </p:txBody>
      </p:sp>
      <p:sp>
        <p:nvSpPr>
          <p:cNvPr id="12" name="Text 9"/>
          <p:cNvSpPr/>
          <p:nvPr/>
        </p:nvSpPr>
        <p:spPr>
          <a:xfrm>
            <a:off x="594360" y="502920"/>
            <a:ext cx="5303520" cy="256032"/>
          </a:xfrm>
          <a:prstGeom prst="rect">
            <a:avLst/>
          </a:prstGeom>
          <a:noFill/>
          <a:ln/>
        </p:spPr>
        <p:txBody>
          <a:bodyPr wrap="square" lIns="0" tIns="0" rIns="0" bIns="0" rtlCol="0" anchor="ctr"/>
          <a:lstStyle/>
          <a:p>
            <a:pPr marL="0" indent="0">
              <a:buNone/>
            </a:pPr>
            <a:r>
              <a:rPr lang="en-US" sz="1100" b="1" kern="0" spc="200">
                <a:solidFill>
                  <a:srgbClr val="39C6D8"/>
                </a:solidFill>
                <a:latin typeface="Carlito" pitchFamily="34" charset="0"/>
                <a:ea typeface="Carlito" pitchFamily="34" charset="-122"/>
                <a:cs typeface="Carlito" pitchFamily="34" charset="-120"/>
              </a:rPr>
              <a:t>WHY MCP</a:t>
            </a:r>
            <a:endParaRPr lang="en-US" sz="1100" dirty="0"/>
          </a:p>
        </p:txBody>
      </p:sp>
      <p:sp>
        <p:nvSpPr>
          <p:cNvPr id="13" name="Text 10"/>
          <p:cNvSpPr/>
          <p:nvPr/>
        </p:nvSpPr>
        <p:spPr>
          <a:xfrm>
            <a:off x="594360" y="868680"/>
            <a:ext cx="9966960" cy="658368"/>
          </a:xfrm>
          <a:prstGeom prst="rect">
            <a:avLst/>
          </a:prstGeom>
          <a:noFill/>
          <a:ln/>
        </p:spPr>
        <p:txBody>
          <a:bodyPr wrap="square" lIns="0" tIns="0" rIns="0" bIns="0" rtlCol="0" anchor="ctr"/>
          <a:lstStyle/>
          <a:p>
            <a:pPr marL="0" indent="0">
              <a:buNone/>
            </a:pPr>
            <a:r>
              <a:rPr lang="en-GB" sz="2800" b="1">
                <a:solidFill>
                  <a:srgbClr val="F8FBFF"/>
                </a:solidFill>
                <a:latin typeface="Carlito" pitchFamily="34" charset="0"/>
                <a:ea typeface="Carlito" pitchFamily="34" charset="-122"/>
                <a:cs typeface="Carlito" pitchFamily="34" charset="-120"/>
              </a:rPr>
              <a:t>Replace custom glue with a shared protocol</a:t>
            </a:r>
            <a:endParaRPr lang="en-US" sz="2800" dirty="0"/>
          </a:p>
        </p:txBody>
      </p:sp>
      <p:sp>
        <p:nvSpPr>
          <p:cNvPr id="14" name="Text 11"/>
          <p:cNvSpPr/>
          <p:nvPr/>
        </p:nvSpPr>
        <p:spPr>
          <a:xfrm>
            <a:off x="612648" y="1554480"/>
            <a:ext cx="9326880" cy="502920"/>
          </a:xfrm>
          <a:prstGeom prst="rect">
            <a:avLst/>
          </a:prstGeom>
          <a:noFill/>
          <a:ln/>
        </p:spPr>
        <p:txBody>
          <a:bodyPr wrap="square" lIns="0" tIns="0" rIns="0" bIns="0" rtlCol="0" anchor="ctr"/>
          <a:lstStyle/>
          <a:p>
            <a:pPr marL="0" indent="0">
              <a:buNone/>
            </a:pPr>
            <a:r>
              <a:rPr lang="en-GB" sz="1400">
                <a:solidFill>
                  <a:srgbClr val="AAB7D8"/>
                </a:solidFill>
                <a:latin typeface="Carlito" pitchFamily="34" charset="0"/>
                <a:ea typeface="Carlito" pitchFamily="34" charset="-122"/>
                <a:cs typeface="Carlito" pitchFamily="34" charset="-120"/>
              </a:rPr>
              <a:t>Hosts and services integrate once around discoverable, typed capabilities.</a:t>
            </a:r>
            <a:endParaRPr lang="en-US" sz="1400" dirty="0"/>
          </a:p>
        </p:txBody>
      </p:sp>
      <p:sp>
        <p:nvSpPr>
          <p:cNvPr id="15" name="Shape 12"/>
          <p:cNvSpPr/>
          <p:nvPr/>
        </p:nvSpPr>
        <p:spPr>
          <a:xfrm>
            <a:off x="658368" y="2331720"/>
            <a:ext cx="5230368" cy="3611880"/>
          </a:xfrm>
          <a:prstGeom prst="roundRect">
            <a:avLst>
              <a:gd name="adj" fmla="val 2025"/>
            </a:avLst>
          </a:prstGeom>
          <a:solidFill>
            <a:srgbClr val="202654"/>
          </a:solidFill>
          <a:ln w="20320">
            <a:solidFill>
              <a:srgbClr val="2F78D8">
                <a:alpha val="65000"/>
              </a:srgbClr>
            </a:solidFill>
            <a:prstDash val="solid"/>
          </a:ln>
        </p:spPr>
        <p:txBody>
          <a:bodyPr/>
          <a:lstStyle/>
          <a:p>
            <a:endParaRPr lang="en-US"/>
          </a:p>
        </p:txBody>
      </p:sp>
      <p:sp>
        <p:nvSpPr>
          <p:cNvPr id="16" name="Shape 13"/>
          <p:cNvSpPr/>
          <p:nvPr/>
        </p:nvSpPr>
        <p:spPr>
          <a:xfrm>
            <a:off x="978408" y="2651760"/>
            <a:ext cx="1417320" cy="347472"/>
          </a:xfrm>
          <a:prstGeom prst="roundRect">
            <a:avLst>
              <a:gd name="adj" fmla="val 21053"/>
            </a:avLst>
          </a:prstGeom>
          <a:solidFill>
            <a:srgbClr val="282E66"/>
          </a:solidFill>
          <a:ln w="12700">
            <a:solidFill>
              <a:srgbClr val="282E66"/>
            </a:solidFill>
            <a:prstDash val="solid"/>
          </a:ln>
        </p:spPr>
        <p:txBody>
          <a:bodyPr/>
          <a:lstStyle/>
          <a:p>
            <a:endParaRPr lang="en-US"/>
          </a:p>
        </p:txBody>
      </p:sp>
      <p:sp>
        <p:nvSpPr>
          <p:cNvPr id="17" name="Text 14"/>
          <p:cNvSpPr/>
          <p:nvPr/>
        </p:nvSpPr>
        <p:spPr>
          <a:xfrm>
            <a:off x="1106424" y="2724912"/>
            <a:ext cx="1161288" cy="164592"/>
          </a:xfrm>
          <a:prstGeom prst="rect">
            <a:avLst/>
          </a:prstGeom>
          <a:noFill/>
          <a:ln/>
        </p:spPr>
        <p:txBody>
          <a:bodyPr wrap="square" lIns="0" tIns="0" rIns="0" bIns="0" rtlCol="0" anchor="ctr"/>
          <a:lstStyle/>
          <a:p>
            <a:pPr marL="0" indent="0" algn="ctr">
              <a:buNone/>
            </a:pPr>
            <a:r>
              <a:rPr lang="en-US" sz="850" b="1" kern="0" spc="110">
                <a:solidFill>
                  <a:srgbClr val="2F78D8"/>
                </a:solidFill>
                <a:latin typeface="Carlito" pitchFamily="34" charset="0"/>
                <a:ea typeface="Carlito" pitchFamily="34" charset="-122"/>
                <a:cs typeface="Carlito" pitchFamily="34" charset="-120"/>
              </a:rPr>
              <a:t>WITHOUT MCP</a:t>
            </a:r>
            <a:endParaRPr lang="en-US" sz="850" dirty="0"/>
          </a:p>
        </p:txBody>
      </p:sp>
      <p:sp>
        <p:nvSpPr>
          <p:cNvPr id="18" name="Text 15"/>
          <p:cNvSpPr/>
          <p:nvPr/>
        </p:nvSpPr>
        <p:spPr>
          <a:xfrm>
            <a:off x="978408" y="3182112"/>
            <a:ext cx="4297680" cy="411480"/>
          </a:xfrm>
          <a:prstGeom prst="rect">
            <a:avLst/>
          </a:prstGeom>
          <a:noFill/>
          <a:ln/>
        </p:spPr>
        <p:txBody>
          <a:bodyPr wrap="square" lIns="0" tIns="0" rIns="0" bIns="0" rtlCol="0" anchor="ctr"/>
          <a:lstStyle/>
          <a:p>
            <a:pPr marL="0" indent="0">
              <a:buNone/>
            </a:pPr>
            <a:r>
              <a:rPr lang="en-US" sz="2200" b="1">
                <a:solidFill>
                  <a:srgbClr val="F8FBFF"/>
                </a:solidFill>
                <a:latin typeface="Carlito" pitchFamily="34" charset="0"/>
                <a:ea typeface="Carlito" pitchFamily="34" charset="-122"/>
                <a:cs typeface="Carlito" pitchFamily="34" charset="-120"/>
              </a:rPr>
              <a:t>Custom integrations</a:t>
            </a:r>
            <a:endParaRPr lang="en-US" sz="2200" dirty="0"/>
          </a:p>
        </p:txBody>
      </p:sp>
      <p:sp>
        <p:nvSpPr>
          <p:cNvPr id="19" name="Shape 16"/>
          <p:cNvSpPr/>
          <p:nvPr/>
        </p:nvSpPr>
        <p:spPr>
          <a:xfrm>
            <a:off x="1005840" y="3977640"/>
            <a:ext cx="118872" cy="118872"/>
          </a:xfrm>
          <a:prstGeom prst="ellipse">
            <a:avLst/>
          </a:prstGeom>
          <a:solidFill>
            <a:srgbClr val="2F78D8"/>
          </a:solidFill>
          <a:ln w="12700">
            <a:solidFill>
              <a:srgbClr val="2F78D8"/>
            </a:solidFill>
            <a:prstDash val="solid"/>
          </a:ln>
        </p:spPr>
        <p:txBody>
          <a:bodyPr/>
          <a:lstStyle/>
          <a:p>
            <a:endParaRPr lang="en-US"/>
          </a:p>
        </p:txBody>
      </p:sp>
      <p:sp>
        <p:nvSpPr>
          <p:cNvPr id="20" name="Text 17"/>
          <p:cNvSpPr/>
          <p:nvPr/>
        </p:nvSpPr>
        <p:spPr>
          <a:xfrm>
            <a:off x="1280160" y="3895344"/>
            <a:ext cx="3931920" cy="246888"/>
          </a:xfrm>
          <a:prstGeom prst="rect">
            <a:avLst/>
          </a:prstGeom>
          <a:noFill/>
          <a:ln/>
        </p:spPr>
        <p:txBody>
          <a:bodyPr wrap="square" lIns="0" tIns="0" rIns="0" bIns="0" rtlCol="0" anchor="ctr"/>
          <a:lstStyle/>
          <a:p>
            <a:pPr marL="0" indent="0">
              <a:buNone/>
            </a:pPr>
            <a:r>
              <a:rPr lang="en-US" sz="1300">
                <a:solidFill>
                  <a:srgbClr val="AAB7D8"/>
                </a:solidFill>
                <a:latin typeface="Carlito" pitchFamily="34" charset="0"/>
                <a:ea typeface="Carlito" pitchFamily="34" charset="-122"/>
                <a:cs typeface="Carlito" pitchFamily="34" charset="-120"/>
              </a:rPr>
              <a:t>One adapter per service</a:t>
            </a:r>
            <a:endParaRPr lang="en-US" sz="1300" dirty="0"/>
          </a:p>
        </p:txBody>
      </p:sp>
      <p:sp>
        <p:nvSpPr>
          <p:cNvPr id="21" name="Shape 18"/>
          <p:cNvSpPr/>
          <p:nvPr/>
        </p:nvSpPr>
        <p:spPr>
          <a:xfrm>
            <a:off x="1005840" y="4462272"/>
            <a:ext cx="118872" cy="118872"/>
          </a:xfrm>
          <a:prstGeom prst="ellipse">
            <a:avLst/>
          </a:prstGeom>
          <a:solidFill>
            <a:srgbClr val="2F78D8"/>
          </a:solidFill>
          <a:ln w="12700">
            <a:solidFill>
              <a:srgbClr val="2F78D8"/>
            </a:solidFill>
            <a:prstDash val="solid"/>
          </a:ln>
        </p:spPr>
        <p:txBody>
          <a:bodyPr/>
          <a:lstStyle/>
          <a:p>
            <a:endParaRPr lang="en-US"/>
          </a:p>
        </p:txBody>
      </p:sp>
      <p:sp>
        <p:nvSpPr>
          <p:cNvPr id="22" name="Text 19"/>
          <p:cNvSpPr/>
          <p:nvPr/>
        </p:nvSpPr>
        <p:spPr>
          <a:xfrm>
            <a:off x="1280160" y="4379976"/>
            <a:ext cx="3931920" cy="246888"/>
          </a:xfrm>
          <a:prstGeom prst="rect">
            <a:avLst/>
          </a:prstGeom>
          <a:noFill/>
          <a:ln/>
        </p:spPr>
        <p:txBody>
          <a:bodyPr wrap="square" lIns="0" tIns="0" rIns="0" bIns="0" rtlCol="0" anchor="ctr"/>
          <a:lstStyle/>
          <a:p>
            <a:pPr marL="0" indent="0">
              <a:buNone/>
            </a:pPr>
            <a:r>
              <a:rPr lang="en-US" sz="1300">
                <a:solidFill>
                  <a:srgbClr val="AAB7D8"/>
                </a:solidFill>
                <a:latin typeface="Carlito" pitchFamily="34" charset="0"/>
                <a:ea typeface="Carlito" pitchFamily="34" charset="-122"/>
                <a:cs typeface="Carlito" pitchFamily="34" charset="-120"/>
              </a:rPr>
              <a:t>Schemas drift</a:t>
            </a:r>
            <a:endParaRPr lang="en-US" sz="1300" dirty="0"/>
          </a:p>
        </p:txBody>
      </p:sp>
      <p:sp>
        <p:nvSpPr>
          <p:cNvPr id="23" name="Shape 20"/>
          <p:cNvSpPr/>
          <p:nvPr/>
        </p:nvSpPr>
        <p:spPr>
          <a:xfrm>
            <a:off x="1005840" y="4946904"/>
            <a:ext cx="118872" cy="118872"/>
          </a:xfrm>
          <a:prstGeom prst="ellipse">
            <a:avLst/>
          </a:prstGeom>
          <a:solidFill>
            <a:srgbClr val="2F78D8"/>
          </a:solidFill>
          <a:ln w="12700">
            <a:solidFill>
              <a:srgbClr val="2F78D8"/>
            </a:solidFill>
            <a:prstDash val="solid"/>
          </a:ln>
        </p:spPr>
        <p:txBody>
          <a:bodyPr/>
          <a:lstStyle/>
          <a:p>
            <a:endParaRPr lang="en-US"/>
          </a:p>
        </p:txBody>
      </p:sp>
      <p:sp>
        <p:nvSpPr>
          <p:cNvPr id="24" name="Text 21"/>
          <p:cNvSpPr/>
          <p:nvPr/>
        </p:nvSpPr>
        <p:spPr>
          <a:xfrm>
            <a:off x="1280160" y="4864608"/>
            <a:ext cx="3931920" cy="246888"/>
          </a:xfrm>
          <a:prstGeom prst="rect">
            <a:avLst/>
          </a:prstGeom>
          <a:noFill/>
          <a:ln/>
        </p:spPr>
        <p:txBody>
          <a:bodyPr wrap="square" lIns="0" tIns="0" rIns="0" bIns="0" rtlCol="0" anchor="ctr"/>
          <a:lstStyle/>
          <a:p>
            <a:pPr marL="0" indent="0">
              <a:buNone/>
            </a:pPr>
            <a:r>
              <a:rPr lang="en-US" sz="1300">
                <a:solidFill>
                  <a:srgbClr val="AAB7D8"/>
                </a:solidFill>
                <a:latin typeface="Carlito" pitchFamily="34" charset="0"/>
                <a:ea typeface="Carlito" pitchFamily="34" charset="-122"/>
                <a:cs typeface="Carlito" pitchFamily="34" charset="-120"/>
              </a:rPr>
              <a:t>Controls are duplicated</a:t>
            </a:r>
            <a:endParaRPr lang="en-US" sz="1300" dirty="0"/>
          </a:p>
        </p:txBody>
      </p:sp>
      <p:sp>
        <p:nvSpPr>
          <p:cNvPr id="25" name="Shape 22"/>
          <p:cNvSpPr/>
          <p:nvPr/>
        </p:nvSpPr>
        <p:spPr>
          <a:xfrm>
            <a:off x="6291072" y="2331720"/>
            <a:ext cx="5230368" cy="3611880"/>
          </a:xfrm>
          <a:prstGeom prst="roundRect">
            <a:avLst>
              <a:gd name="adj" fmla="val 2025"/>
            </a:avLst>
          </a:prstGeom>
          <a:solidFill>
            <a:srgbClr val="202654"/>
          </a:solidFill>
          <a:ln w="20320">
            <a:solidFill>
              <a:srgbClr val="39C6D8">
                <a:alpha val="65000"/>
              </a:srgbClr>
            </a:solidFill>
            <a:prstDash val="solid"/>
          </a:ln>
        </p:spPr>
        <p:txBody>
          <a:bodyPr/>
          <a:lstStyle/>
          <a:p>
            <a:endParaRPr lang="en-US"/>
          </a:p>
        </p:txBody>
      </p:sp>
      <p:sp>
        <p:nvSpPr>
          <p:cNvPr id="26" name="Shape 23"/>
          <p:cNvSpPr/>
          <p:nvPr/>
        </p:nvSpPr>
        <p:spPr>
          <a:xfrm>
            <a:off x="6611112" y="2651760"/>
            <a:ext cx="1417320" cy="347472"/>
          </a:xfrm>
          <a:prstGeom prst="roundRect">
            <a:avLst>
              <a:gd name="adj" fmla="val 21053"/>
            </a:avLst>
          </a:prstGeom>
          <a:solidFill>
            <a:srgbClr val="282E66"/>
          </a:solidFill>
          <a:ln w="12700">
            <a:solidFill>
              <a:srgbClr val="282E66"/>
            </a:solidFill>
            <a:prstDash val="solid"/>
          </a:ln>
        </p:spPr>
        <p:txBody>
          <a:bodyPr/>
          <a:lstStyle/>
          <a:p>
            <a:endParaRPr lang="en-US"/>
          </a:p>
        </p:txBody>
      </p:sp>
      <p:sp>
        <p:nvSpPr>
          <p:cNvPr id="27" name="Text 24"/>
          <p:cNvSpPr/>
          <p:nvPr/>
        </p:nvSpPr>
        <p:spPr>
          <a:xfrm>
            <a:off x="6739128" y="2724912"/>
            <a:ext cx="1161288" cy="164592"/>
          </a:xfrm>
          <a:prstGeom prst="rect">
            <a:avLst/>
          </a:prstGeom>
          <a:noFill/>
          <a:ln/>
        </p:spPr>
        <p:txBody>
          <a:bodyPr wrap="square" lIns="0" tIns="0" rIns="0" bIns="0" rtlCol="0" anchor="ctr"/>
          <a:lstStyle/>
          <a:p>
            <a:pPr marL="0" indent="0" algn="ctr">
              <a:buNone/>
            </a:pPr>
            <a:r>
              <a:rPr lang="en-US" sz="850" b="1" kern="0" spc="110">
                <a:solidFill>
                  <a:srgbClr val="39C6D8"/>
                </a:solidFill>
                <a:latin typeface="Carlito" pitchFamily="34" charset="0"/>
                <a:ea typeface="Carlito" pitchFamily="34" charset="-122"/>
                <a:cs typeface="Carlito" pitchFamily="34" charset="-120"/>
              </a:rPr>
              <a:t>WITH MCP</a:t>
            </a:r>
            <a:endParaRPr lang="en-US" sz="850" dirty="0"/>
          </a:p>
        </p:txBody>
      </p:sp>
      <p:sp>
        <p:nvSpPr>
          <p:cNvPr id="28" name="Text 25"/>
          <p:cNvSpPr/>
          <p:nvPr/>
        </p:nvSpPr>
        <p:spPr>
          <a:xfrm>
            <a:off x="6611112" y="3182112"/>
            <a:ext cx="4297680" cy="411480"/>
          </a:xfrm>
          <a:prstGeom prst="rect">
            <a:avLst/>
          </a:prstGeom>
          <a:noFill/>
          <a:ln/>
        </p:spPr>
        <p:txBody>
          <a:bodyPr wrap="square" lIns="0" tIns="0" rIns="0" bIns="0" rtlCol="0" anchor="ctr"/>
          <a:lstStyle/>
          <a:p>
            <a:pPr marL="0" indent="0">
              <a:buNone/>
            </a:pPr>
            <a:r>
              <a:rPr lang="en-US" sz="2200" b="1">
                <a:solidFill>
                  <a:srgbClr val="F8FBFF"/>
                </a:solidFill>
                <a:latin typeface="Carlito" pitchFamily="34" charset="0"/>
                <a:ea typeface="Carlito" pitchFamily="34" charset="-122"/>
                <a:cs typeface="Carlito" pitchFamily="34" charset="-120"/>
              </a:rPr>
              <a:t>Shared contract</a:t>
            </a:r>
            <a:endParaRPr lang="en-US" sz="2200" dirty="0"/>
          </a:p>
        </p:txBody>
      </p:sp>
      <p:sp>
        <p:nvSpPr>
          <p:cNvPr id="29" name="Shape 26"/>
          <p:cNvSpPr/>
          <p:nvPr/>
        </p:nvSpPr>
        <p:spPr>
          <a:xfrm>
            <a:off x="6638544" y="3977640"/>
            <a:ext cx="118872" cy="118872"/>
          </a:xfrm>
          <a:prstGeom prst="ellipse">
            <a:avLst/>
          </a:prstGeom>
          <a:solidFill>
            <a:srgbClr val="39C6D8"/>
          </a:solidFill>
          <a:ln w="12700">
            <a:solidFill>
              <a:srgbClr val="39C6D8"/>
            </a:solidFill>
            <a:prstDash val="solid"/>
          </a:ln>
        </p:spPr>
        <p:txBody>
          <a:bodyPr/>
          <a:lstStyle/>
          <a:p>
            <a:endParaRPr lang="en-US"/>
          </a:p>
        </p:txBody>
      </p:sp>
      <p:sp>
        <p:nvSpPr>
          <p:cNvPr id="30" name="Text 27"/>
          <p:cNvSpPr/>
          <p:nvPr/>
        </p:nvSpPr>
        <p:spPr>
          <a:xfrm>
            <a:off x="6912864" y="3895344"/>
            <a:ext cx="3931920" cy="246888"/>
          </a:xfrm>
          <a:prstGeom prst="rect">
            <a:avLst/>
          </a:prstGeom>
          <a:noFill/>
          <a:ln/>
        </p:spPr>
        <p:txBody>
          <a:bodyPr wrap="square" lIns="0" tIns="0" rIns="0" bIns="0" rtlCol="0" anchor="ctr"/>
          <a:lstStyle/>
          <a:p>
            <a:pPr marL="0" indent="0">
              <a:buNone/>
            </a:pPr>
            <a:r>
              <a:rPr lang="en-US" sz="1300">
                <a:solidFill>
                  <a:srgbClr val="AAB7D8"/>
                </a:solidFill>
                <a:latin typeface="Carlito" pitchFamily="34" charset="0"/>
                <a:ea typeface="Carlito" pitchFamily="34" charset="-122"/>
                <a:cs typeface="Carlito" pitchFamily="34" charset="-120"/>
              </a:rPr>
              <a:t>Discoverable tools</a:t>
            </a:r>
            <a:endParaRPr lang="en-US" sz="1300" dirty="0"/>
          </a:p>
        </p:txBody>
      </p:sp>
      <p:sp>
        <p:nvSpPr>
          <p:cNvPr id="31" name="Shape 28"/>
          <p:cNvSpPr/>
          <p:nvPr/>
        </p:nvSpPr>
        <p:spPr>
          <a:xfrm>
            <a:off x="6638544" y="4462272"/>
            <a:ext cx="118872" cy="118872"/>
          </a:xfrm>
          <a:prstGeom prst="ellipse">
            <a:avLst/>
          </a:prstGeom>
          <a:solidFill>
            <a:srgbClr val="39C6D8"/>
          </a:solidFill>
          <a:ln w="12700">
            <a:solidFill>
              <a:srgbClr val="39C6D8"/>
            </a:solidFill>
            <a:prstDash val="solid"/>
          </a:ln>
        </p:spPr>
        <p:txBody>
          <a:bodyPr/>
          <a:lstStyle/>
          <a:p>
            <a:endParaRPr lang="en-US"/>
          </a:p>
        </p:txBody>
      </p:sp>
      <p:sp>
        <p:nvSpPr>
          <p:cNvPr id="32" name="Text 29"/>
          <p:cNvSpPr/>
          <p:nvPr/>
        </p:nvSpPr>
        <p:spPr>
          <a:xfrm>
            <a:off x="6912864" y="4379976"/>
            <a:ext cx="3931920" cy="246888"/>
          </a:xfrm>
          <a:prstGeom prst="rect">
            <a:avLst/>
          </a:prstGeom>
          <a:noFill/>
          <a:ln/>
        </p:spPr>
        <p:txBody>
          <a:bodyPr wrap="square" lIns="0" tIns="0" rIns="0" bIns="0" rtlCol="0" anchor="ctr"/>
          <a:lstStyle/>
          <a:p>
            <a:pPr marL="0" indent="0">
              <a:buNone/>
            </a:pPr>
            <a:r>
              <a:rPr lang="en-US" sz="1300">
                <a:solidFill>
                  <a:srgbClr val="AAB7D8"/>
                </a:solidFill>
                <a:latin typeface="Carlito" pitchFamily="34" charset="0"/>
                <a:ea typeface="Carlito" pitchFamily="34" charset="-122"/>
                <a:cs typeface="Carlito" pitchFamily="34" charset="-120"/>
              </a:rPr>
              <a:t>Typed inputs and outputs</a:t>
            </a:r>
            <a:endParaRPr lang="en-US" sz="1300" dirty="0"/>
          </a:p>
        </p:txBody>
      </p:sp>
      <p:sp>
        <p:nvSpPr>
          <p:cNvPr id="33" name="Shape 30"/>
          <p:cNvSpPr/>
          <p:nvPr/>
        </p:nvSpPr>
        <p:spPr>
          <a:xfrm>
            <a:off x="6638544" y="4946904"/>
            <a:ext cx="118872" cy="118872"/>
          </a:xfrm>
          <a:prstGeom prst="ellipse">
            <a:avLst/>
          </a:prstGeom>
          <a:solidFill>
            <a:srgbClr val="39C6D8"/>
          </a:solidFill>
          <a:ln w="12700">
            <a:solidFill>
              <a:srgbClr val="39C6D8"/>
            </a:solidFill>
            <a:prstDash val="solid"/>
          </a:ln>
        </p:spPr>
        <p:txBody>
          <a:bodyPr/>
          <a:lstStyle/>
          <a:p>
            <a:endParaRPr lang="en-US"/>
          </a:p>
        </p:txBody>
      </p:sp>
      <p:sp>
        <p:nvSpPr>
          <p:cNvPr id="34" name="Text 31"/>
          <p:cNvSpPr/>
          <p:nvPr/>
        </p:nvSpPr>
        <p:spPr>
          <a:xfrm>
            <a:off x="6912864" y="4864608"/>
            <a:ext cx="3931920" cy="246888"/>
          </a:xfrm>
          <a:prstGeom prst="rect">
            <a:avLst/>
          </a:prstGeom>
          <a:noFill/>
          <a:ln/>
        </p:spPr>
        <p:txBody>
          <a:bodyPr wrap="square" lIns="0" tIns="0" rIns="0" bIns="0" rtlCol="0" anchor="ctr"/>
          <a:lstStyle/>
          <a:p>
            <a:pPr marL="0" indent="0">
              <a:buNone/>
            </a:pPr>
            <a:r>
              <a:rPr lang="en-US" sz="1300">
                <a:solidFill>
                  <a:srgbClr val="AAB7D8"/>
                </a:solidFill>
                <a:latin typeface="Carlito" pitchFamily="34" charset="0"/>
                <a:ea typeface="Carlito" pitchFamily="34" charset="-122"/>
                <a:cs typeface="Carlito" pitchFamily="34" charset="-120"/>
              </a:rPr>
              <a:t>Reusable hosts and servers</a:t>
            </a:r>
            <a:endParaRPr lang="en-US" sz="1300" dirty="0"/>
          </a:p>
        </p:txBody>
      </p:sp>
      <p:sp>
        <p:nvSpPr>
          <p:cNvPr id="35" name="Text 32"/>
          <p:cNvSpPr/>
          <p:nvPr/>
        </p:nvSpPr>
        <p:spPr>
          <a:xfrm>
            <a:off x="5705856" y="3685032"/>
            <a:ext cx="758952" cy="429768"/>
          </a:xfrm>
          <a:prstGeom prst="rect">
            <a:avLst/>
          </a:prstGeom>
          <a:noFill/>
          <a:ln/>
        </p:spPr>
        <p:txBody>
          <a:bodyPr wrap="square" lIns="0" tIns="0" rIns="0" bIns="0" rtlCol="0" anchor="ctr"/>
          <a:lstStyle/>
          <a:p>
            <a:pPr marL="0" indent="0" algn="ctr">
              <a:buNone/>
            </a:pPr>
            <a:r>
              <a:rPr lang="en-US" sz="1600" b="1" dirty="0">
                <a:solidFill>
                  <a:srgbClr val="68E1E8"/>
                </a:solidFill>
                <a:latin typeface="Carlito" pitchFamily="34" charset="0"/>
                <a:ea typeface="Carlito" pitchFamily="34" charset="-122"/>
                <a:cs typeface="Carlito" pitchFamily="34" charset="-120"/>
              </a:rPr>
              <a:t>VS</a:t>
            </a:r>
            <a:endParaRPr lang="en-US" sz="1600" dirty="0"/>
          </a:p>
        </p:txBody>
      </p:sp>
      <p:sp>
        <p:nvSpPr>
          <p:cNvPr id="36" name="Slide Number Placeholder 0"/>
          <p:cNvSpPr>
            <a:spLocks noGrp="1"/>
          </p:cNvSpPr>
          <p:nvPr>
            <p:ph type="sldNum" sz="quarter" idx="4294967295"/>
          </p:nvPr>
        </p:nvSpPr>
        <p:spPr>
          <a:xfrm>
            <a:off x="11777472" y="6455664"/>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AAB7D8"/>
                </a:solidFill>
                <a:latin typeface="Carlito"/>
                <a:ea typeface="Carlito"/>
                <a:cs typeface="Carlito"/>
              </a:defRPr>
            </a:lvl1pPr>
          </a:lstStyle>
          <a:p>
            <a:pPr algn="l"/>
            <a:r>
              <a:rPr lang="en-US" b="0"/>
              <a:t>3</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9966960" y="-1143000"/>
            <a:ext cx="3383280" cy="3383280"/>
          </a:xfrm>
          <a:prstGeom prst="ellipse">
            <a:avLst/>
          </a:prstGeom>
          <a:solidFill>
            <a:srgbClr val="1E224E">
              <a:alpha val="0"/>
            </a:srgbClr>
          </a:solidFill>
          <a:ln w="16510">
            <a:solidFill>
              <a:srgbClr val="39C6D8">
                <a:alpha val="38000"/>
              </a:srgbClr>
            </a:solidFill>
            <a:prstDash val="solid"/>
          </a:ln>
        </p:spPr>
        <p:txBody>
          <a:bodyPr/>
          <a:lstStyle/>
          <a:p>
            <a:endParaRPr lang="en-US"/>
          </a:p>
        </p:txBody>
      </p:sp>
      <p:sp>
        <p:nvSpPr>
          <p:cNvPr id="3" name="Shape 1"/>
          <p:cNvSpPr/>
          <p:nvPr/>
        </p:nvSpPr>
        <p:spPr>
          <a:xfrm>
            <a:off x="10469880" y="-658368"/>
            <a:ext cx="2423160" cy="2423160"/>
          </a:xfrm>
          <a:prstGeom prst="ellipse">
            <a:avLst/>
          </a:prstGeom>
          <a:solidFill>
            <a:srgbClr val="1E224E">
              <a:alpha val="0"/>
            </a:srgbClr>
          </a:solidFill>
          <a:ln w="12700">
            <a:solidFill>
              <a:srgbClr val="2F78D8">
                <a:alpha val="42000"/>
              </a:srgbClr>
            </a:solidFill>
            <a:prstDash val="solid"/>
          </a:ln>
        </p:spPr>
        <p:txBody>
          <a:bodyPr/>
          <a:lstStyle/>
          <a:p>
            <a:endParaRPr lang="en-US"/>
          </a:p>
        </p:txBody>
      </p:sp>
      <p:sp>
        <p:nvSpPr>
          <p:cNvPr id="4" name="Shape 2"/>
          <p:cNvSpPr/>
          <p:nvPr/>
        </p:nvSpPr>
        <p:spPr>
          <a:xfrm>
            <a:off x="11109960" y="594360"/>
            <a:ext cx="73152" cy="73152"/>
          </a:xfrm>
          <a:prstGeom prst="ellipse">
            <a:avLst/>
          </a:prstGeom>
          <a:solidFill>
            <a:srgbClr val="68E1E8"/>
          </a:solidFill>
          <a:ln w="12700">
            <a:solidFill>
              <a:srgbClr val="68E1E8">
                <a:alpha val="0"/>
              </a:srgbClr>
            </a:solidFill>
            <a:prstDash val="solid"/>
          </a:ln>
        </p:spPr>
        <p:txBody>
          <a:bodyPr/>
          <a:lstStyle/>
          <a:p>
            <a:endParaRPr lang="en-US"/>
          </a:p>
        </p:txBody>
      </p:sp>
      <p:sp>
        <p:nvSpPr>
          <p:cNvPr id="5" name="Shape 3"/>
          <p:cNvSpPr/>
          <p:nvPr/>
        </p:nvSpPr>
        <p:spPr>
          <a:xfrm>
            <a:off x="11384280" y="850392"/>
            <a:ext cx="45720" cy="45720"/>
          </a:xfrm>
          <a:prstGeom prst="ellipse">
            <a:avLst/>
          </a:prstGeom>
          <a:solidFill>
            <a:srgbClr val="39C6D8"/>
          </a:solidFill>
          <a:ln w="12700">
            <a:solidFill>
              <a:srgbClr val="39C6D8">
                <a:alpha val="0"/>
              </a:srgbClr>
            </a:solidFill>
            <a:prstDash val="solid"/>
          </a:ln>
        </p:spPr>
        <p:txBody>
          <a:bodyPr/>
          <a:lstStyle/>
          <a:p>
            <a:endParaRPr lang="en-US"/>
          </a:p>
        </p:txBody>
      </p:sp>
      <p:sp>
        <p:nvSpPr>
          <p:cNvPr id="6" name="Shape 4"/>
          <p:cNvSpPr/>
          <p:nvPr/>
        </p:nvSpPr>
        <p:spPr>
          <a:xfrm>
            <a:off x="11631168" y="1106424"/>
            <a:ext cx="36576" cy="36576"/>
          </a:xfrm>
          <a:prstGeom prst="ellipse">
            <a:avLst/>
          </a:prstGeom>
          <a:solidFill>
            <a:srgbClr val="2F78D8"/>
          </a:solidFill>
          <a:ln w="12700">
            <a:solidFill>
              <a:srgbClr val="2F78D8">
                <a:alpha val="0"/>
              </a:srgbClr>
            </a:solidFill>
            <a:prstDash val="solid"/>
          </a:ln>
        </p:spPr>
        <p:txBody>
          <a:bodyPr/>
          <a:lstStyle/>
          <a:p>
            <a:endParaRPr lang="en-US"/>
          </a:p>
        </p:txBody>
      </p:sp>
      <p:sp>
        <p:nvSpPr>
          <p:cNvPr id="7" name="Shape 5"/>
          <p:cNvSpPr/>
          <p:nvPr/>
        </p:nvSpPr>
        <p:spPr>
          <a:xfrm>
            <a:off x="-1371600" y="5166360"/>
            <a:ext cx="2926080" cy="2926080"/>
          </a:xfrm>
          <a:prstGeom prst="ellipse">
            <a:avLst/>
          </a:prstGeom>
          <a:solidFill>
            <a:srgbClr val="1E224E">
              <a:alpha val="0"/>
            </a:srgbClr>
          </a:solidFill>
          <a:ln w="12700">
            <a:solidFill>
              <a:srgbClr val="39C6D8">
                <a:alpha val="26000"/>
              </a:srgbClr>
            </a:solidFill>
            <a:prstDash val="solid"/>
          </a:ln>
        </p:spPr>
        <p:txBody>
          <a:bodyPr/>
          <a:lstStyle/>
          <a:p>
            <a:endParaRPr lang="en-US"/>
          </a:p>
        </p:txBody>
      </p:sp>
      <p:sp>
        <p:nvSpPr>
          <p:cNvPr id="12" name="Text 9"/>
          <p:cNvSpPr/>
          <p:nvPr/>
        </p:nvSpPr>
        <p:spPr>
          <a:xfrm>
            <a:off x="594360" y="502920"/>
            <a:ext cx="5303520" cy="256032"/>
          </a:xfrm>
          <a:prstGeom prst="rect">
            <a:avLst/>
          </a:prstGeom>
          <a:noFill/>
          <a:ln/>
        </p:spPr>
        <p:txBody>
          <a:bodyPr wrap="square" lIns="0" tIns="0" rIns="0" bIns="0" rtlCol="0" anchor="ctr"/>
          <a:lstStyle/>
          <a:p>
            <a:pPr marL="0" indent="0">
              <a:buNone/>
            </a:pPr>
            <a:r>
              <a:rPr lang="en-US" sz="1100" b="1" kern="0" spc="200">
                <a:solidFill>
                  <a:srgbClr val="39C6D8"/>
                </a:solidFill>
                <a:latin typeface="Carlito" pitchFamily="34" charset="0"/>
                <a:ea typeface="Carlito" pitchFamily="34" charset="-122"/>
                <a:cs typeface="Carlito" pitchFamily="34" charset="-120"/>
              </a:rPr>
              <a:t>REQUEST PATH</a:t>
            </a:r>
            <a:endParaRPr lang="en-US" sz="1100" dirty="0"/>
          </a:p>
        </p:txBody>
      </p:sp>
      <p:sp>
        <p:nvSpPr>
          <p:cNvPr id="13" name="Text 10"/>
          <p:cNvSpPr/>
          <p:nvPr/>
        </p:nvSpPr>
        <p:spPr>
          <a:xfrm>
            <a:off x="594360" y="868680"/>
            <a:ext cx="9966960" cy="658368"/>
          </a:xfrm>
          <a:prstGeom prst="rect">
            <a:avLst/>
          </a:prstGeom>
          <a:noFill/>
          <a:ln/>
        </p:spPr>
        <p:txBody>
          <a:bodyPr wrap="square" lIns="0" tIns="0" rIns="0" bIns="0" rtlCol="0" anchor="ctr"/>
          <a:lstStyle/>
          <a:p>
            <a:pPr marL="0" indent="0">
              <a:buNone/>
            </a:pPr>
            <a:r>
              <a:rPr lang="en-GB" sz="2800" b="1">
                <a:solidFill>
                  <a:srgbClr val="F8FBFF"/>
                </a:solidFill>
                <a:latin typeface="Carlito" pitchFamily="34" charset="0"/>
                <a:ea typeface="Carlito" pitchFamily="34" charset="-122"/>
                <a:cs typeface="Carlito" pitchFamily="34" charset="-120"/>
              </a:rPr>
              <a:t>One request. Four clear roles.</a:t>
            </a:r>
            <a:endParaRPr lang="en-US" sz="2800" dirty="0"/>
          </a:p>
        </p:txBody>
      </p:sp>
      <p:sp>
        <p:nvSpPr>
          <p:cNvPr id="14" name="Text 11"/>
          <p:cNvSpPr/>
          <p:nvPr/>
        </p:nvSpPr>
        <p:spPr>
          <a:xfrm>
            <a:off x="612648" y="1554480"/>
            <a:ext cx="9326880" cy="502920"/>
          </a:xfrm>
          <a:prstGeom prst="rect">
            <a:avLst/>
          </a:prstGeom>
          <a:noFill/>
          <a:ln/>
        </p:spPr>
        <p:txBody>
          <a:bodyPr wrap="square" lIns="0" tIns="0" rIns="0" bIns="0" rtlCol="0" anchor="ctr"/>
          <a:lstStyle/>
          <a:p>
            <a:pPr marL="0" indent="0">
              <a:buNone/>
            </a:pPr>
            <a:r>
              <a:rPr lang="en-GB" sz="1400">
                <a:solidFill>
                  <a:srgbClr val="AAB7D8"/>
                </a:solidFill>
                <a:latin typeface="Carlito" pitchFamily="34" charset="0"/>
                <a:ea typeface="Carlito" pitchFamily="34" charset="-122"/>
                <a:cs typeface="Carlito" pitchFamily="34" charset="-120"/>
              </a:rPr>
              <a:t>The model chooses; the host remains in control of execution and output.</a:t>
            </a:r>
            <a:endParaRPr lang="en-US" sz="1400" dirty="0"/>
          </a:p>
        </p:txBody>
      </p:sp>
      <p:sp>
        <p:nvSpPr>
          <p:cNvPr id="15" name="Shape 12"/>
          <p:cNvSpPr/>
          <p:nvPr/>
        </p:nvSpPr>
        <p:spPr>
          <a:xfrm>
            <a:off x="621792" y="2395728"/>
            <a:ext cx="2487168" cy="3063240"/>
          </a:xfrm>
          <a:prstGeom prst="roundRect">
            <a:avLst>
              <a:gd name="adj" fmla="val 2941"/>
            </a:avLst>
          </a:prstGeom>
          <a:solidFill>
            <a:srgbClr val="202654"/>
          </a:solidFill>
          <a:ln w="15240">
            <a:solidFill>
              <a:srgbClr val="39437F">
                <a:alpha val="75000"/>
              </a:srgbClr>
            </a:solidFill>
            <a:prstDash val="solid"/>
          </a:ln>
        </p:spPr>
        <p:txBody>
          <a:bodyPr/>
          <a:lstStyle/>
          <a:p>
            <a:endParaRPr lang="en-US"/>
          </a:p>
        </p:txBody>
      </p:sp>
      <p:sp>
        <p:nvSpPr>
          <p:cNvPr id="16" name="Shape 13"/>
          <p:cNvSpPr/>
          <p:nvPr/>
        </p:nvSpPr>
        <p:spPr>
          <a:xfrm>
            <a:off x="877824" y="2697480"/>
            <a:ext cx="612648" cy="347472"/>
          </a:xfrm>
          <a:prstGeom prst="roundRect">
            <a:avLst>
              <a:gd name="adj" fmla="val 21053"/>
            </a:avLst>
          </a:prstGeom>
          <a:solidFill>
            <a:srgbClr val="30376E"/>
          </a:solidFill>
          <a:ln w="12700">
            <a:solidFill>
              <a:srgbClr val="30376E"/>
            </a:solidFill>
            <a:prstDash val="solid"/>
          </a:ln>
        </p:spPr>
        <p:txBody>
          <a:bodyPr/>
          <a:lstStyle/>
          <a:p>
            <a:endParaRPr lang="en-US"/>
          </a:p>
        </p:txBody>
      </p:sp>
      <p:sp>
        <p:nvSpPr>
          <p:cNvPr id="17" name="Text 14"/>
          <p:cNvSpPr/>
          <p:nvPr/>
        </p:nvSpPr>
        <p:spPr>
          <a:xfrm>
            <a:off x="1005840" y="2770632"/>
            <a:ext cx="356616" cy="164592"/>
          </a:xfrm>
          <a:prstGeom prst="rect">
            <a:avLst/>
          </a:prstGeom>
          <a:noFill/>
          <a:ln/>
        </p:spPr>
        <p:txBody>
          <a:bodyPr wrap="square" lIns="0" tIns="0" rIns="0" bIns="0" rtlCol="0" anchor="ctr"/>
          <a:lstStyle/>
          <a:p>
            <a:pPr marL="0" indent="0" algn="ctr">
              <a:buNone/>
            </a:pPr>
            <a:r>
              <a:rPr lang="en-US" sz="850" b="1" kern="0" spc="110" dirty="0">
                <a:solidFill>
                  <a:srgbClr val="68E1E8"/>
                </a:solidFill>
                <a:latin typeface="Carlito" pitchFamily="34" charset="0"/>
                <a:ea typeface="Carlito" pitchFamily="34" charset="-122"/>
                <a:cs typeface="Carlito" pitchFamily="34" charset="-120"/>
              </a:rPr>
              <a:t>01</a:t>
            </a:r>
            <a:endParaRPr lang="en-US" sz="850" dirty="0"/>
          </a:p>
        </p:txBody>
      </p:sp>
      <p:sp>
        <p:nvSpPr>
          <p:cNvPr id="18" name="Text 15"/>
          <p:cNvSpPr/>
          <p:nvPr/>
        </p:nvSpPr>
        <p:spPr>
          <a:xfrm>
            <a:off x="877824" y="3310128"/>
            <a:ext cx="1965960" cy="320040"/>
          </a:xfrm>
          <a:prstGeom prst="rect">
            <a:avLst/>
          </a:prstGeom>
          <a:noFill/>
          <a:ln/>
        </p:spPr>
        <p:txBody>
          <a:bodyPr wrap="square" lIns="0" tIns="0" rIns="0" bIns="0" rtlCol="0" anchor="ctr"/>
          <a:lstStyle/>
          <a:p>
            <a:pPr marL="0" indent="0">
              <a:buNone/>
            </a:pPr>
            <a:r>
              <a:rPr lang="en-US" sz="1700" b="1">
                <a:solidFill>
                  <a:srgbClr val="F8FBFF"/>
                </a:solidFill>
                <a:latin typeface="Carlito" pitchFamily="34" charset="0"/>
                <a:ea typeface="Carlito" pitchFamily="34" charset="-122"/>
                <a:cs typeface="Carlito" pitchFamily="34" charset="-120"/>
              </a:rPr>
              <a:t>QUESTION</a:t>
            </a:r>
            <a:endParaRPr lang="en-US" sz="1700" dirty="0"/>
          </a:p>
        </p:txBody>
      </p:sp>
      <p:sp>
        <p:nvSpPr>
          <p:cNvPr id="19" name="Text 16"/>
          <p:cNvSpPr/>
          <p:nvPr/>
        </p:nvSpPr>
        <p:spPr>
          <a:xfrm>
            <a:off x="877824" y="3794760"/>
            <a:ext cx="1920240" cy="658368"/>
          </a:xfrm>
          <a:prstGeom prst="rect">
            <a:avLst/>
          </a:prstGeom>
          <a:noFill/>
          <a:ln/>
        </p:spPr>
        <p:txBody>
          <a:bodyPr wrap="square" lIns="0" tIns="0" rIns="0" bIns="0" rtlCol="0" anchor="ctr"/>
          <a:lstStyle/>
          <a:p>
            <a:pPr marL="0" indent="0">
              <a:buNone/>
            </a:pPr>
            <a:r>
              <a:rPr lang="en-GB" sz="1150">
                <a:solidFill>
                  <a:srgbClr val="AAB7D8"/>
                </a:solidFill>
                <a:latin typeface="Carlito" pitchFamily="34" charset="0"/>
                <a:ea typeface="Carlito" pitchFamily="34" charset="-122"/>
                <a:cs typeface="Carlito" pitchFamily="34" charset="-120"/>
              </a:rPr>
              <a:t>What is the weather in Pune?</a:t>
            </a:r>
            <a:endParaRPr lang="en-US" sz="1150" dirty="0"/>
          </a:p>
        </p:txBody>
      </p:sp>
      <p:sp>
        <p:nvSpPr>
          <p:cNvPr id="20" name="Text 17"/>
          <p:cNvSpPr/>
          <p:nvPr/>
        </p:nvSpPr>
        <p:spPr>
          <a:xfrm>
            <a:off x="3127248" y="3410712"/>
            <a:ext cx="365760" cy="365760"/>
          </a:xfrm>
          <a:prstGeom prst="rect">
            <a:avLst/>
          </a:prstGeom>
          <a:noFill/>
          <a:ln/>
        </p:spPr>
        <p:txBody>
          <a:bodyPr wrap="square" lIns="0" tIns="0" rIns="0" bIns="0" rtlCol="0" anchor="ctr"/>
          <a:lstStyle/>
          <a:p>
            <a:pPr marL="0" indent="0" algn="ctr">
              <a:buNone/>
            </a:pPr>
            <a:r>
              <a:rPr lang="en-US" sz="2200" b="1" dirty="0">
                <a:solidFill>
                  <a:srgbClr val="68E1E8"/>
                </a:solidFill>
                <a:latin typeface="Carlito" pitchFamily="34" charset="0"/>
                <a:ea typeface="Carlito" pitchFamily="34" charset="-122"/>
                <a:cs typeface="Carlito" pitchFamily="34" charset="-120"/>
              </a:rPr>
              <a:t>→</a:t>
            </a:r>
            <a:endParaRPr lang="en-US" sz="2200" dirty="0"/>
          </a:p>
        </p:txBody>
      </p:sp>
      <p:sp>
        <p:nvSpPr>
          <p:cNvPr id="21" name="Shape 18"/>
          <p:cNvSpPr/>
          <p:nvPr/>
        </p:nvSpPr>
        <p:spPr>
          <a:xfrm>
            <a:off x="3483864" y="2395728"/>
            <a:ext cx="2487168" cy="3063240"/>
          </a:xfrm>
          <a:prstGeom prst="roundRect">
            <a:avLst>
              <a:gd name="adj" fmla="val 2941"/>
            </a:avLst>
          </a:prstGeom>
          <a:solidFill>
            <a:srgbClr val="202654"/>
          </a:solidFill>
          <a:ln w="15240">
            <a:solidFill>
              <a:srgbClr val="39437F">
                <a:alpha val="75000"/>
              </a:srgbClr>
            </a:solidFill>
            <a:prstDash val="solid"/>
          </a:ln>
        </p:spPr>
        <p:txBody>
          <a:bodyPr/>
          <a:lstStyle/>
          <a:p>
            <a:endParaRPr lang="en-US"/>
          </a:p>
        </p:txBody>
      </p:sp>
      <p:sp>
        <p:nvSpPr>
          <p:cNvPr id="22" name="Shape 19"/>
          <p:cNvSpPr/>
          <p:nvPr/>
        </p:nvSpPr>
        <p:spPr>
          <a:xfrm>
            <a:off x="3739896" y="2697480"/>
            <a:ext cx="612648" cy="347472"/>
          </a:xfrm>
          <a:prstGeom prst="roundRect">
            <a:avLst>
              <a:gd name="adj" fmla="val 21053"/>
            </a:avLst>
          </a:prstGeom>
          <a:solidFill>
            <a:srgbClr val="30376E"/>
          </a:solidFill>
          <a:ln w="12700">
            <a:solidFill>
              <a:srgbClr val="30376E"/>
            </a:solidFill>
            <a:prstDash val="solid"/>
          </a:ln>
        </p:spPr>
        <p:txBody>
          <a:bodyPr/>
          <a:lstStyle/>
          <a:p>
            <a:endParaRPr lang="en-US"/>
          </a:p>
        </p:txBody>
      </p:sp>
      <p:sp>
        <p:nvSpPr>
          <p:cNvPr id="23" name="Text 20"/>
          <p:cNvSpPr/>
          <p:nvPr/>
        </p:nvSpPr>
        <p:spPr>
          <a:xfrm>
            <a:off x="3867912" y="2770632"/>
            <a:ext cx="356616" cy="164592"/>
          </a:xfrm>
          <a:prstGeom prst="rect">
            <a:avLst/>
          </a:prstGeom>
          <a:noFill/>
          <a:ln/>
        </p:spPr>
        <p:txBody>
          <a:bodyPr wrap="square" lIns="0" tIns="0" rIns="0" bIns="0" rtlCol="0" anchor="ctr"/>
          <a:lstStyle/>
          <a:p>
            <a:pPr marL="0" indent="0" algn="ctr">
              <a:buNone/>
            </a:pPr>
            <a:r>
              <a:rPr lang="en-US" sz="850" b="1" kern="0" spc="110" dirty="0">
                <a:solidFill>
                  <a:srgbClr val="68E1E8"/>
                </a:solidFill>
                <a:latin typeface="Carlito" pitchFamily="34" charset="0"/>
                <a:ea typeface="Carlito" pitchFamily="34" charset="-122"/>
                <a:cs typeface="Carlito" pitchFamily="34" charset="-120"/>
              </a:rPr>
              <a:t>02</a:t>
            </a:r>
            <a:endParaRPr lang="en-US" sz="850" dirty="0"/>
          </a:p>
        </p:txBody>
      </p:sp>
      <p:sp>
        <p:nvSpPr>
          <p:cNvPr id="24" name="Text 21"/>
          <p:cNvSpPr/>
          <p:nvPr/>
        </p:nvSpPr>
        <p:spPr>
          <a:xfrm>
            <a:off x="3739896" y="3310128"/>
            <a:ext cx="1965960" cy="320040"/>
          </a:xfrm>
          <a:prstGeom prst="rect">
            <a:avLst/>
          </a:prstGeom>
          <a:noFill/>
          <a:ln/>
        </p:spPr>
        <p:txBody>
          <a:bodyPr wrap="square" lIns="0" tIns="0" rIns="0" bIns="0" rtlCol="0" anchor="ctr"/>
          <a:lstStyle/>
          <a:p>
            <a:pPr marL="0" indent="0">
              <a:buNone/>
            </a:pPr>
            <a:r>
              <a:rPr lang="en-US" sz="1700" b="1">
                <a:solidFill>
                  <a:srgbClr val="F8FBFF"/>
                </a:solidFill>
                <a:latin typeface="Carlito" pitchFamily="34" charset="0"/>
                <a:ea typeface="Carlito" pitchFamily="34" charset="-122"/>
                <a:cs typeface="Carlito" pitchFamily="34" charset="-120"/>
              </a:rPr>
              <a:t>SELECT</a:t>
            </a:r>
            <a:endParaRPr lang="en-US" sz="1700" dirty="0"/>
          </a:p>
        </p:txBody>
      </p:sp>
      <p:sp>
        <p:nvSpPr>
          <p:cNvPr id="25" name="Text 22"/>
          <p:cNvSpPr/>
          <p:nvPr/>
        </p:nvSpPr>
        <p:spPr>
          <a:xfrm>
            <a:off x="3739896" y="3794760"/>
            <a:ext cx="1920240" cy="658368"/>
          </a:xfrm>
          <a:prstGeom prst="rect">
            <a:avLst/>
          </a:prstGeom>
          <a:noFill/>
          <a:ln/>
        </p:spPr>
        <p:txBody>
          <a:bodyPr wrap="square" lIns="0" tIns="0" rIns="0" bIns="0" rtlCol="0" anchor="ctr"/>
          <a:lstStyle/>
          <a:p>
            <a:pPr marL="0" indent="0">
              <a:buNone/>
            </a:pPr>
            <a:r>
              <a:rPr lang="en-GB" sz="1150">
                <a:solidFill>
                  <a:srgbClr val="AAB7D8"/>
                </a:solidFill>
                <a:latin typeface="Carlito" pitchFamily="34" charset="0"/>
                <a:ea typeface="Carlito" pitchFamily="34" charset="-122"/>
                <a:cs typeface="Carlito" pitchFamily="34" charset="-120"/>
              </a:rPr>
              <a:t>Foundry Local selects get_weather.</a:t>
            </a:r>
            <a:endParaRPr lang="en-US" sz="1150" dirty="0"/>
          </a:p>
        </p:txBody>
      </p:sp>
      <p:sp>
        <p:nvSpPr>
          <p:cNvPr id="26" name="Text 23"/>
          <p:cNvSpPr/>
          <p:nvPr/>
        </p:nvSpPr>
        <p:spPr>
          <a:xfrm>
            <a:off x="5989320" y="3410712"/>
            <a:ext cx="365760" cy="365760"/>
          </a:xfrm>
          <a:prstGeom prst="rect">
            <a:avLst/>
          </a:prstGeom>
          <a:noFill/>
          <a:ln/>
        </p:spPr>
        <p:txBody>
          <a:bodyPr wrap="square" lIns="0" tIns="0" rIns="0" bIns="0" rtlCol="0" anchor="ctr"/>
          <a:lstStyle/>
          <a:p>
            <a:pPr marL="0" indent="0" algn="ctr">
              <a:buNone/>
            </a:pPr>
            <a:r>
              <a:rPr lang="en-US" sz="2200" b="1" dirty="0">
                <a:solidFill>
                  <a:srgbClr val="68E1E8"/>
                </a:solidFill>
                <a:latin typeface="Carlito" pitchFamily="34" charset="0"/>
                <a:ea typeface="Carlito" pitchFamily="34" charset="-122"/>
                <a:cs typeface="Carlito" pitchFamily="34" charset="-120"/>
              </a:rPr>
              <a:t>→</a:t>
            </a:r>
            <a:endParaRPr lang="en-US" sz="2200" dirty="0"/>
          </a:p>
        </p:txBody>
      </p:sp>
      <p:sp>
        <p:nvSpPr>
          <p:cNvPr id="27" name="Shape 24"/>
          <p:cNvSpPr/>
          <p:nvPr/>
        </p:nvSpPr>
        <p:spPr>
          <a:xfrm>
            <a:off x="6345936" y="2395728"/>
            <a:ext cx="2487168" cy="3063240"/>
          </a:xfrm>
          <a:prstGeom prst="roundRect">
            <a:avLst>
              <a:gd name="adj" fmla="val 2941"/>
            </a:avLst>
          </a:prstGeom>
          <a:solidFill>
            <a:srgbClr val="2B356C"/>
          </a:solidFill>
          <a:ln w="15240">
            <a:solidFill>
              <a:srgbClr val="39C6D8">
                <a:alpha val="75000"/>
              </a:srgbClr>
            </a:solidFill>
            <a:prstDash val="solid"/>
          </a:ln>
        </p:spPr>
        <p:txBody>
          <a:bodyPr/>
          <a:lstStyle/>
          <a:p>
            <a:endParaRPr lang="en-US"/>
          </a:p>
        </p:txBody>
      </p:sp>
      <p:sp>
        <p:nvSpPr>
          <p:cNvPr id="28" name="Shape 25"/>
          <p:cNvSpPr/>
          <p:nvPr/>
        </p:nvSpPr>
        <p:spPr>
          <a:xfrm>
            <a:off x="6601968" y="2697480"/>
            <a:ext cx="612648" cy="347472"/>
          </a:xfrm>
          <a:prstGeom prst="roundRect">
            <a:avLst>
              <a:gd name="adj" fmla="val 21053"/>
            </a:avLst>
          </a:prstGeom>
          <a:solidFill>
            <a:srgbClr val="39C6D8"/>
          </a:solidFill>
          <a:ln w="12700">
            <a:solidFill>
              <a:srgbClr val="39C6D8"/>
            </a:solidFill>
            <a:prstDash val="solid"/>
          </a:ln>
        </p:spPr>
        <p:txBody>
          <a:bodyPr/>
          <a:lstStyle/>
          <a:p>
            <a:endParaRPr lang="en-US"/>
          </a:p>
        </p:txBody>
      </p:sp>
      <p:sp>
        <p:nvSpPr>
          <p:cNvPr id="29" name="Text 26"/>
          <p:cNvSpPr/>
          <p:nvPr/>
        </p:nvSpPr>
        <p:spPr>
          <a:xfrm>
            <a:off x="6729984" y="2770632"/>
            <a:ext cx="356616" cy="164592"/>
          </a:xfrm>
          <a:prstGeom prst="rect">
            <a:avLst/>
          </a:prstGeom>
          <a:noFill/>
          <a:ln/>
        </p:spPr>
        <p:txBody>
          <a:bodyPr wrap="square" lIns="0" tIns="0" rIns="0" bIns="0" rtlCol="0" anchor="ctr"/>
          <a:lstStyle/>
          <a:p>
            <a:pPr marL="0" indent="0" algn="ctr">
              <a:buNone/>
            </a:pPr>
            <a:r>
              <a:rPr lang="en-US" sz="850" b="1" kern="0" spc="110" dirty="0">
                <a:solidFill>
                  <a:srgbClr val="1E224E"/>
                </a:solidFill>
                <a:latin typeface="Carlito" pitchFamily="34" charset="0"/>
                <a:ea typeface="Carlito" pitchFamily="34" charset="-122"/>
                <a:cs typeface="Carlito" pitchFamily="34" charset="-120"/>
              </a:rPr>
              <a:t>03</a:t>
            </a:r>
            <a:endParaRPr lang="en-US" sz="850" dirty="0"/>
          </a:p>
        </p:txBody>
      </p:sp>
      <p:sp>
        <p:nvSpPr>
          <p:cNvPr id="30" name="Text 27"/>
          <p:cNvSpPr/>
          <p:nvPr/>
        </p:nvSpPr>
        <p:spPr>
          <a:xfrm>
            <a:off x="6601968" y="3310128"/>
            <a:ext cx="1965960" cy="320040"/>
          </a:xfrm>
          <a:prstGeom prst="rect">
            <a:avLst/>
          </a:prstGeom>
          <a:noFill/>
          <a:ln/>
        </p:spPr>
        <p:txBody>
          <a:bodyPr wrap="square" lIns="0" tIns="0" rIns="0" bIns="0" rtlCol="0" anchor="ctr"/>
          <a:lstStyle/>
          <a:p>
            <a:pPr marL="0" indent="0">
              <a:buNone/>
            </a:pPr>
            <a:r>
              <a:rPr lang="en-US" sz="1700" b="1">
                <a:solidFill>
                  <a:srgbClr val="F8FBFF"/>
                </a:solidFill>
                <a:latin typeface="Carlito" pitchFamily="34" charset="0"/>
                <a:ea typeface="Carlito" pitchFamily="34" charset="-122"/>
                <a:cs typeface="Carlito" pitchFamily="34" charset="-120"/>
              </a:rPr>
              <a:t>EXECUTE</a:t>
            </a:r>
            <a:endParaRPr lang="en-US" sz="1700" dirty="0"/>
          </a:p>
        </p:txBody>
      </p:sp>
      <p:sp>
        <p:nvSpPr>
          <p:cNvPr id="31" name="Text 28"/>
          <p:cNvSpPr/>
          <p:nvPr/>
        </p:nvSpPr>
        <p:spPr>
          <a:xfrm>
            <a:off x="6601968" y="3794760"/>
            <a:ext cx="1920240" cy="658368"/>
          </a:xfrm>
          <a:prstGeom prst="rect">
            <a:avLst/>
          </a:prstGeom>
          <a:noFill/>
          <a:ln/>
        </p:spPr>
        <p:txBody>
          <a:bodyPr wrap="square" lIns="0" tIns="0" rIns="0" bIns="0" rtlCol="0" anchor="ctr"/>
          <a:lstStyle/>
          <a:p>
            <a:pPr marL="0" indent="0">
              <a:buNone/>
            </a:pPr>
            <a:r>
              <a:rPr lang="en-GB" sz="1150">
                <a:solidFill>
                  <a:srgbClr val="AAB7D8"/>
                </a:solidFill>
                <a:latin typeface="Carlito" pitchFamily="34" charset="0"/>
                <a:ea typeface="Carlito" pitchFamily="34" charset="-122"/>
                <a:cs typeface="Carlito" pitchFamily="34" charset="-120"/>
              </a:rPr>
              <a:t>FastMCP validates and runs the tool.</a:t>
            </a:r>
            <a:endParaRPr lang="en-US" sz="1150" dirty="0"/>
          </a:p>
        </p:txBody>
      </p:sp>
      <p:sp>
        <p:nvSpPr>
          <p:cNvPr id="32" name="Text 29"/>
          <p:cNvSpPr/>
          <p:nvPr/>
        </p:nvSpPr>
        <p:spPr>
          <a:xfrm>
            <a:off x="8851392" y="3410712"/>
            <a:ext cx="365760" cy="365760"/>
          </a:xfrm>
          <a:prstGeom prst="rect">
            <a:avLst/>
          </a:prstGeom>
          <a:noFill/>
          <a:ln/>
        </p:spPr>
        <p:txBody>
          <a:bodyPr wrap="square" lIns="0" tIns="0" rIns="0" bIns="0" rtlCol="0" anchor="ctr"/>
          <a:lstStyle/>
          <a:p>
            <a:pPr marL="0" indent="0" algn="ctr">
              <a:buNone/>
            </a:pPr>
            <a:r>
              <a:rPr lang="en-US" sz="2200" b="1" dirty="0">
                <a:solidFill>
                  <a:srgbClr val="68E1E8"/>
                </a:solidFill>
                <a:latin typeface="Carlito" pitchFamily="34" charset="0"/>
                <a:ea typeface="Carlito" pitchFamily="34" charset="-122"/>
                <a:cs typeface="Carlito" pitchFamily="34" charset="-120"/>
              </a:rPr>
              <a:t>→</a:t>
            </a:r>
            <a:endParaRPr lang="en-US" sz="2200" dirty="0"/>
          </a:p>
        </p:txBody>
      </p:sp>
      <p:sp>
        <p:nvSpPr>
          <p:cNvPr id="33" name="Shape 30"/>
          <p:cNvSpPr/>
          <p:nvPr/>
        </p:nvSpPr>
        <p:spPr>
          <a:xfrm>
            <a:off x="9208008" y="2395728"/>
            <a:ext cx="2487168" cy="3063240"/>
          </a:xfrm>
          <a:prstGeom prst="roundRect">
            <a:avLst>
              <a:gd name="adj" fmla="val 2941"/>
            </a:avLst>
          </a:prstGeom>
          <a:solidFill>
            <a:srgbClr val="202654"/>
          </a:solidFill>
          <a:ln w="15240">
            <a:solidFill>
              <a:srgbClr val="39437F">
                <a:alpha val="75000"/>
              </a:srgbClr>
            </a:solidFill>
            <a:prstDash val="solid"/>
          </a:ln>
        </p:spPr>
        <p:txBody>
          <a:bodyPr/>
          <a:lstStyle/>
          <a:p>
            <a:endParaRPr lang="en-US"/>
          </a:p>
        </p:txBody>
      </p:sp>
      <p:sp>
        <p:nvSpPr>
          <p:cNvPr id="34" name="Shape 31"/>
          <p:cNvSpPr/>
          <p:nvPr/>
        </p:nvSpPr>
        <p:spPr>
          <a:xfrm>
            <a:off x="9464040" y="2697480"/>
            <a:ext cx="612648" cy="347472"/>
          </a:xfrm>
          <a:prstGeom prst="roundRect">
            <a:avLst>
              <a:gd name="adj" fmla="val 21053"/>
            </a:avLst>
          </a:prstGeom>
          <a:solidFill>
            <a:srgbClr val="30376E"/>
          </a:solidFill>
          <a:ln w="12700">
            <a:solidFill>
              <a:srgbClr val="30376E"/>
            </a:solidFill>
            <a:prstDash val="solid"/>
          </a:ln>
        </p:spPr>
        <p:txBody>
          <a:bodyPr/>
          <a:lstStyle/>
          <a:p>
            <a:endParaRPr lang="en-US"/>
          </a:p>
        </p:txBody>
      </p:sp>
      <p:sp>
        <p:nvSpPr>
          <p:cNvPr id="35" name="Text 32"/>
          <p:cNvSpPr/>
          <p:nvPr/>
        </p:nvSpPr>
        <p:spPr>
          <a:xfrm>
            <a:off x="9592056" y="2770632"/>
            <a:ext cx="356616" cy="164592"/>
          </a:xfrm>
          <a:prstGeom prst="rect">
            <a:avLst/>
          </a:prstGeom>
          <a:noFill/>
          <a:ln/>
        </p:spPr>
        <p:txBody>
          <a:bodyPr wrap="square" lIns="0" tIns="0" rIns="0" bIns="0" rtlCol="0" anchor="ctr"/>
          <a:lstStyle/>
          <a:p>
            <a:pPr marL="0" indent="0" algn="ctr">
              <a:buNone/>
            </a:pPr>
            <a:r>
              <a:rPr lang="en-US" sz="850" b="1" kern="0" spc="110" dirty="0">
                <a:solidFill>
                  <a:srgbClr val="68E1E8"/>
                </a:solidFill>
                <a:latin typeface="Carlito" pitchFamily="34" charset="0"/>
                <a:ea typeface="Carlito" pitchFamily="34" charset="-122"/>
                <a:cs typeface="Carlito" pitchFamily="34" charset="-120"/>
              </a:rPr>
              <a:t>04</a:t>
            </a:r>
            <a:endParaRPr lang="en-US" sz="850" dirty="0"/>
          </a:p>
        </p:txBody>
      </p:sp>
      <p:sp>
        <p:nvSpPr>
          <p:cNvPr id="36" name="Text 33"/>
          <p:cNvSpPr/>
          <p:nvPr/>
        </p:nvSpPr>
        <p:spPr>
          <a:xfrm>
            <a:off x="9464040" y="3310128"/>
            <a:ext cx="1965960" cy="320040"/>
          </a:xfrm>
          <a:prstGeom prst="rect">
            <a:avLst/>
          </a:prstGeom>
          <a:noFill/>
          <a:ln/>
        </p:spPr>
        <p:txBody>
          <a:bodyPr wrap="square" lIns="0" tIns="0" rIns="0" bIns="0" rtlCol="0" anchor="ctr"/>
          <a:lstStyle/>
          <a:p>
            <a:pPr marL="0" indent="0">
              <a:buNone/>
            </a:pPr>
            <a:r>
              <a:rPr lang="en-US" sz="1700" b="1">
                <a:solidFill>
                  <a:srgbClr val="F8FBFF"/>
                </a:solidFill>
                <a:latin typeface="Carlito" pitchFamily="34" charset="0"/>
                <a:ea typeface="Carlito" pitchFamily="34" charset="-122"/>
                <a:cs typeface="Carlito" pitchFamily="34" charset="-120"/>
              </a:rPr>
              <a:t>RENDER</a:t>
            </a:r>
            <a:endParaRPr lang="en-US" sz="1700" dirty="0"/>
          </a:p>
        </p:txBody>
      </p:sp>
      <p:sp>
        <p:nvSpPr>
          <p:cNvPr id="37" name="Text 34"/>
          <p:cNvSpPr/>
          <p:nvPr/>
        </p:nvSpPr>
        <p:spPr>
          <a:xfrm>
            <a:off x="9464040" y="3794760"/>
            <a:ext cx="1920240" cy="658368"/>
          </a:xfrm>
          <a:prstGeom prst="rect">
            <a:avLst/>
          </a:prstGeom>
          <a:noFill/>
          <a:ln/>
        </p:spPr>
        <p:txBody>
          <a:bodyPr wrap="square" lIns="0" tIns="0" rIns="0" bIns="0" rtlCol="0" anchor="ctr"/>
          <a:lstStyle/>
          <a:p>
            <a:pPr marL="0" indent="0">
              <a:buNone/>
            </a:pPr>
            <a:r>
              <a:rPr lang="en-GB" sz="1150">
                <a:solidFill>
                  <a:srgbClr val="AAB7D8"/>
                </a:solidFill>
                <a:latin typeface="Carlito" pitchFamily="34" charset="0"/>
                <a:ea typeface="Carlito" pitchFamily="34" charset="-122"/>
                <a:cs typeface="Carlito" pitchFamily="34" charset="-120"/>
              </a:rPr>
              <a:t>The host formats exact typed data.</a:t>
            </a:r>
            <a:endParaRPr lang="en-US" sz="1150" dirty="0"/>
          </a:p>
        </p:txBody>
      </p:sp>
      <p:sp>
        <p:nvSpPr>
          <p:cNvPr id="38" name="Text 35"/>
          <p:cNvSpPr/>
          <p:nvPr/>
        </p:nvSpPr>
        <p:spPr>
          <a:xfrm>
            <a:off x="685800" y="5833872"/>
            <a:ext cx="4206240" cy="274320"/>
          </a:xfrm>
          <a:prstGeom prst="rect">
            <a:avLst/>
          </a:prstGeom>
          <a:noFill/>
          <a:ln/>
        </p:spPr>
        <p:txBody>
          <a:bodyPr wrap="square" lIns="0" tIns="0" rIns="0" bIns="0" rtlCol="0" anchor="ctr"/>
          <a:lstStyle/>
          <a:p>
            <a:pPr marL="0" indent="0">
              <a:buNone/>
            </a:pPr>
            <a:r>
              <a:rPr lang="en-GB" sz="1000" i="1">
                <a:solidFill>
                  <a:srgbClr val="7382AA"/>
                </a:solidFill>
                <a:latin typeface="Carlito" pitchFamily="34" charset="0"/>
                <a:ea typeface="Carlito" pitchFamily="34" charset="-122"/>
                <a:cs typeface="Carlito" pitchFamily="34" charset="-120"/>
              </a:rPr>
              <a:t>LOCAL MODEL | LOCAL STDIO | NO API KEY</a:t>
            </a:r>
            <a:endParaRPr lang="en-US" sz="1000" dirty="0"/>
          </a:p>
        </p:txBody>
      </p:sp>
      <p:sp>
        <p:nvSpPr>
          <p:cNvPr id="39" name="Slide Number Placeholder 0"/>
          <p:cNvSpPr>
            <a:spLocks noGrp="1"/>
          </p:cNvSpPr>
          <p:nvPr>
            <p:ph type="sldNum" sz="quarter" idx="4294967295"/>
          </p:nvPr>
        </p:nvSpPr>
        <p:spPr>
          <a:xfrm>
            <a:off x="11777472" y="6455664"/>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AAB7D8"/>
                </a:solidFill>
                <a:latin typeface="Carlito"/>
                <a:ea typeface="Carlito"/>
                <a:cs typeface="Carlito"/>
              </a:defRPr>
            </a:lvl1pPr>
          </a:lstStyle>
          <a:p>
            <a:pPr algn="l"/>
            <a:r>
              <a:rPr lang="en-US" b="0"/>
              <a:t>4</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9966960" y="-1143000"/>
            <a:ext cx="3383280" cy="3383280"/>
          </a:xfrm>
          <a:prstGeom prst="ellipse">
            <a:avLst/>
          </a:prstGeom>
          <a:solidFill>
            <a:srgbClr val="1E224E">
              <a:alpha val="0"/>
            </a:srgbClr>
          </a:solidFill>
          <a:ln w="16510">
            <a:solidFill>
              <a:srgbClr val="39C6D8">
                <a:alpha val="38000"/>
              </a:srgbClr>
            </a:solidFill>
            <a:prstDash val="solid"/>
          </a:ln>
        </p:spPr>
        <p:txBody>
          <a:bodyPr/>
          <a:lstStyle/>
          <a:p>
            <a:endParaRPr lang="en-US"/>
          </a:p>
        </p:txBody>
      </p:sp>
      <p:sp>
        <p:nvSpPr>
          <p:cNvPr id="3" name="Shape 1"/>
          <p:cNvSpPr/>
          <p:nvPr/>
        </p:nvSpPr>
        <p:spPr>
          <a:xfrm>
            <a:off x="10469880" y="-658368"/>
            <a:ext cx="2423160" cy="2423160"/>
          </a:xfrm>
          <a:prstGeom prst="ellipse">
            <a:avLst/>
          </a:prstGeom>
          <a:solidFill>
            <a:srgbClr val="1E224E">
              <a:alpha val="0"/>
            </a:srgbClr>
          </a:solidFill>
          <a:ln w="12700">
            <a:solidFill>
              <a:srgbClr val="2F78D8">
                <a:alpha val="42000"/>
              </a:srgbClr>
            </a:solidFill>
            <a:prstDash val="solid"/>
          </a:ln>
        </p:spPr>
        <p:txBody>
          <a:bodyPr/>
          <a:lstStyle/>
          <a:p>
            <a:endParaRPr lang="en-US"/>
          </a:p>
        </p:txBody>
      </p:sp>
      <p:sp>
        <p:nvSpPr>
          <p:cNvPr id="4" name="Shape 2"/>
          <p:cNvSpPr/>
          <p:nvPr/>
        </p:nvSpPr>
        <p:spPr>
          <a:xfrm>
            <a:off x="11109960" y="594360"/>
            <a:ext cx="73152" cy="73152"/>
          </a:xfrm>
          <a:prstGeom prst="ellipse">
            <a:avLst/>
          </a:prstGeom>
          <a:solidFill>
            <a:srgbClr val="68E1E8"/>
          </a:solidFill>
          <a:ln w="12700">
            <a:solidFill>
              <a:srgbClr val="68E1E8">
                <a:alpha val="0"/>
              </a:srgbClr>
            </a:solidFill>
            <a:prstDash val="solid"/>
          </a:ln>
        </p:spPr>
        <p:txBody>
          <a:bodyPr/>
          <a:lstStyle/>
          <a:p>
            <a:endParaRPr lang="en-US"/>
          </a:p>
        </p:txBody>
      </p:sp>
      <p:sp>
        <p:nvSpPr>
          <p:cNvPr id="5" name="Shape 3"/>
          <p:cNvSpPr/>
          <p:nvPr/>
        </p:nvSpPr>
        <p:spPr>
          <a:xfrm>
            <a:off x="11384280" y="850392"/>
            <a:ext cx="45720" cy="45720"/>
          </a:xfrm>
          <a:prstGeom prst="ellipse">
            <a:avLst/>
          </a:prstGeom>
          <a:solidFill>
            <a:srgbClr val="39C6D8"/>
          </a:solidFill>
          <a:ln w="12700">
            <a:solidFill>
              <a:srgbClr val="39C6D8">
                <a:alpha val="0"/>
              </a:srgbClr>
            </a:solidFill>
            <a:prstDash val="solid"/>
          </a:ln>
        </p:spPr>
        <p:txBody>
          <a:bodyPr/>
          <a:lstStyle/>
          <a:p>
            <a:endParaRPr lang="en-US"/>
          </a:p>
        </p:txBody>
      </p:sp>
      <p:sp>
        <p:nvSpPr>
          <p:cNvPr id="6" name="Shape 4"/>
          <p:cNvSpPr/>
          <p:nvPr/>
        </p:nvSpPr>
        <p:spPr>
          <a:xfrm>
            <a:off x="11631168" y="1106424"/>
            <a:ext cx="36576" cy="36576"/>
          </a:xfrm>
          <a:prstGeom prst="ellipse">
            <a:avLst/>
          </a:prstGeom>
          <a:solidFill>
            <a:srgbClr val="2F78D8"/>
          </a:solidFill>
          <a:ln w="12700">
            <a:solidFill>
              <a:srgbClr val="2F78D8">
                <a:alpha val="0"/>
              </a:srgbClr>
            </a:solidFill>
            <a:prstDash val="solid"/>
          </a:ln>
        </p:spPr>
        <p:txBody>
          <a:bodyPr/>
          <a:lstStyle/>
          <a:p>
            <a:endParaRPr lang="en-US"/>
          </a:p>
        </p:txBody>
      </p:sp>
      <p:sp>
        <p:nvSpPr>
          <p:cNvPr id="7" name="Shape 5"/>
          <p:cNvSpPr/>
          <p:nvPr/>
        </p:nvSpPr>
        <p:spPr>
          <a:xfrm>
            <a:off x="-1371600" y="5166360"/>
            <a:ext cx="2926080" cy="2926080"/>
          </a:xfrm>
          <a:prstGeom prst="ellipse">
            <a:avLst/>
          </a:prstGeom>
          <a:solidFill>
            <a:srgbClr val="1E224E">
              <a:alpha val="0"/>
            </a:srgbClr>
          </a:solidFill>
          <a:ln w="12700">
            <a:solidFill>
              <a:srgbClr val="39C6D8">
                <a:alpha val="26000"/>
              </a:srgbClr>
            </a:solidFill>
            <a:prstDash val="solid"/>
          </a:ln>
        </p:spPr>
        <p:txBody>
          <a:bodyPr/>
          <a:lstStyle/>
          <a:p>
            <a:endParaRPr lang="en-US"/>
          </a:p>
        </p:txBody>
      </p:sp>
      <p:sp>
        <p:nvSpPr>
          <p:cNvPr id="13" name="Text 10"/>
          <p:cNvSpPr/>
          <p:nvPr/>
        </p:nvSpPr>
        <p:spPr>
          <a:xfrm>
            <a:off x="594360" y="868680"/>
            <a:ext cx="11597640" cy="658368"/>
          </a:xfrm>
          <a:prstGeom prst="rect">
            <a:avLst/>
          </a:prstGeom>
          <a:noFill/>
          <a:ln/>
        </p:spPr>
        <p:txBody>
          <a:bodyPr wrap="square" lIns="0" tIns="0" rIns="0" bIns="0" rtlCol="0" anchor="ctr"/>
          <a:lstStyle/>
          <a:p>
            <a:br>
              <a:rPr lang="en-US" sz="2800" b="1" dirty="0">
                <a:solidFill>
                  <a:srgbClr val="F8FBFF"/>
                </a:solidFill>
                <a:latin typeface="Carlito" pitchFamily="34" charset="0"/>
                <a:ea typeface="Carlito" pitchFamily="34" charset="-122"/>
                <a:cs typeface="Carlito" pitchFamily="34" charset="-120"/>
              </a:rPr>
            </a:br>
            <a:r>
              <a:rPr lang="en-GB" sz="2800" b="1" dirty="0">
                <a:solidFill>
                  <a:schemeClr val="bg1"/>
                </a:solidFill>
              </a:rPr>
              <a:t>Enter the Lab at ***** go to </a:t>
            </a:r>
            <a:r>
              <a:rPr lang="en-GB" sz="2800" b="1" dirty="0" err="1">
                <a:solidFill>
                  <a:schemeClr val="bg1"/>
                </a:solidFill>
              </a:rPr>
              <a:t>MyTraining</a:t>
            </a:r>
            <a:r>
              <a:rPr lang="en-GB" sz="2800" b="1" dirty="0">
                <a:solidFill>
                  <a:schemeClr val="bg1"/>
                </a:solidFill>
              </a:rPr>
              <a:t> and add the following Training key:*******</a:t>
            </a:r>
            <a:endParaRPr lang="en-US" sz="2800" dirty="0"/>
          </a:p>
        </p:txBody>
      </p:sp>
      <p:sp>
        <p:nvSpPr>
          <p:cNvPr id="14" name="Text 11"/>
          <p:cNvSpPr/>
          <p:nvPr/>
        </p:nvSpPr>
        <p:spPr>
          <a:xfrm>
            <a:off x="594360" y="1986534"/>
            <a:ext cx="9326880" cy="502920"/>
          </a:xfrm>
          <a:prstGeom prst="rect">
            <a:avLst/>
          </a:prstGeom>
          <a:noFill/>
          <a:ln/>
        </p:spPr>
        <p:txBody>
          <a:bodyPr wrap="square" lIns="0" tIns="0" rIns="0" bIns="0" rtlCol="0" anchor="ctr"/>
          <a:lstStyle/>
          <a:p>
            <a:pPr marL="0" indent="0">
              <a:buNone/>
            </a:pPr>
            <a:r>
              <a:rPr lang="en-GB" sz="1400" dirty="0">
                <a:solidFill>
                  <a:srgbClr val="AAB7D8"/>
                </a:solidFill>
                <a:latin typeface="Carlito" pitchFamily="34" charset="0"/>
                <a:ea typeface="Carlito" pitchFamily="34" charset="-122"/>
                <a:cs typeface="Carlito" pitchFamily="34" charset="-120"/>
              </a:rPr>
              <a:t>One model decision. One MCP call. Exact typed output.</a:t>
            </a:r>
            <a:endParaRPr lang="en-US" sz="1400" dirty="0"/>
          </a:p>
        </p:txBody>
      </p:sp>
      <p:sp>
        <p:nvSpPr>
          <p:cNvPr id="15" name="Shape 12"/>
          <p:cNvSpPr/>
          <p:nvPr/>
        </p:nvSpPr>
        <p:spPr>
          <a:xfrm>
            <a:off x="658368" y="2546604"/>
            <a:ext cx="7360920" cy="3703320"/>
          </a:xfrm>
          <a:prstGeom prst="roundRect">
            <a:avLst>
              <a:gd name="adj" fmla="val 1975"/>
            </a:avLst>
          </a:prstGeom>
          <a:solidFill>
            <a:srgbClr val="10142F"/>
          </a:solidFill>
          <a:ln w="15240">
            <a:solidFill>
              <a:srgbClr val="38417D">
                <a:alpha val="90000"/>
              </a:srgbClr>
            </a:solidFill>
            <a:prstDash val="solid"/>
          </a:ln>
        </p:spPr>
        <p:txBody>
          <a:bodyPr/>
          <a:lstStyle/>
          <a:p>
            <a:endParaRPr lang="en-US"/>
          </a:p>
        </p:txBody>
      </p:sp>
      <p:sp>
        <p:nvSpPr>
          <p:cNvPr id="16" name="Shape 13"/>
          <p:cNvSpPr/>
          <p:nvPr/>
        </p:nvSpPr>
        <p:spPr>
          <a:xfrm>
            <a:off x="932688" y="2775204"/>
            <a:ext cx="109728" cy="109728"/>
          </a:xfrm>
          <a:prstGeom prst="ellipse">
            <a:avLst/>
          </a:prstGeom>
          <a:solidFill>
            <a:srgbClr val="F46B6B"/>
          </a:solidFill>
          <a:ln w="12700">
            <a:solidFill>
              <a:srgbClr val="F46B6B"/>
            </a:solidFill>
            <a:prstDash val="solid"/>
          </a:ln>
        </p:spPr>
        <p:txBody>
          <a:bodyPr/>
          <a:lstStyle/>
          <a:p>
            <a:endParaRPr lang="en-US"/>
          </a:p>
        </p:txBody>
      </p:sp>
      <p:sp>
        <p:nvSpPr>
          <p:cNvPr id="17" name="Shape 14"/>
          <p:cNvSpPr/>
          <p:nvPr/>
        </p:nvSpPr>
        <p:spPr>
          <a:xfrm>
            <a:off x="1115568" y="2775204"/>
            <a:ext cx="109728" cy="109728"/>
          </a:xfrm>
          <a:prstGeom prst="ellipse">
            <a:avLst/>
          </a:prstGeom>
          <a:solidFill>
            <a:srgbClr val="F2C94C"/>
          </a:solidFill>
          <a:ln w="12700">
            <a:solidFill>
              <a:srgbClr val="F2C94C"/>
            </a:solidFill>
            <a:prstDash val="solid"/>
          </a:ln>
        </p:spPr>
        <p:txBody>
          <a:bodyPr/>
          <a:lstStyle/>
          <a:p>
            <a:endParaRPr lang="en-US"/>
          </a:p>
        </p:txBody>
      </p:sp>
      <p:sp>
        <p:nvSpPr>
          <p:cNvPr id="18" name="Shape 15"/>
          <p:cNvSpPr/>
          <p:nvPr/>
        </p:nvSpPr>
        <p:spPr>
          <a:xfrm>
            <a:off x="1298448" y="2775204"/>
            <a:ext cx="109728" cy="109728"/>
          </a:xfrm>
          <a:prstGeom prst="ellipse">
            <a:avLst/>
          </a:prstGeom>
          <a:solidFill>
            <a:srgbClr val="6FCF97"/>
          </a:solidFill>
          <a:ln w="12700">
            <a:solidFill>
              <a:srgbClr val="6FCF97"/>
            </a:solidFill>
            <a:prstDash val="solid"/>
          </a:ln>
        </p:spPr>
        <p:txBody>
          <a:bodyPr/>
          <a:lstStyle/>
          <a:p>
            <a:endParaRPr lang="en-US"/>
          </a:p>
        </p:txBody>
      </p:sp>
      <p:sp>
        <p:nvSpPr>
          <p:cNvPr id="19" name="Text 16"/>
          <p:cNvSpPr/>
          <p:nvPr/>
        </p:nvSpPr>
        <p:spPr>
          <a:xfrm>
            <a:off x="960120" y="3140964"/>
            <a:ext cx="6537960" cy="2423160"/>
          </a:xfrm>
          <a:prstGeom prst="rect">
            <a:avLst/>
          </a:prstGeom>
          <a:noFill/>
          <a:ln/>
        </p:spPr>
        <p:txBody>
          <a:bodyPr wrap="square" lIns="635" tIns="635" rIns="635" bIns="635" rtlCol="0" anchor="ctr">
            <a:normAutofit/>
          </a:bodyPr>
          <a:lstStyle/>
          <a:p>
            <a:pPr marL="0" indent="0">
              <a:buNone/>
            </a:pPr>
            <a:r>
              <a:rPr lang="en-GB" sz="1400">
                <a:solidFill>
                  <a:srgbClr val="D9E5FF"/>
                </a:solidFill>
                <a:latin typeface="Courier New" pitchFamily="34" charset="0"/>
                <a:ea typeface="Courier New" pitchFamily="34" charset="-122"/>
                <a:cs typeface="Courier New" pitchFamily="34" charset="-120"/>
              </a:rPr>
              <a:t>.\workshop.ps1 check</a:t>
            </a:r>
          </a:p>
          <a:p>
            <a:pPr marL="0" indent="0">
              <a:buNone/>
            </a:pPr>
            <a:r>
              <a:rPr lang="en-GB" sz="1400">
                <a:solidFill>
                  <a:srgbClr val="D9E5FF"/>
                </a:solidFill>
                <a:latin typeface="Courier New" pitchFamily="34" charset="0"/>
                <a:ea typeface="Courier New" pitchFamily="34" charset="-122"/>
                <a:cs typeface="Courier New" pitchFamily="34" charset="-120"/>
              </a:rPr>
              <a:t>.\workshop.ps1 agent "What is the weather in Pune?"</a:t>
            </a:r>
            <a:endParaRPr lang="en-US" sz="1400" dirty="0"/>
          </a:p>
        </p:txBody>
      </p:sp>
      <p:sp>
        <p:nvSpPr>
          <p:cNvPr id="20" name="Text 17"/>
          <p:cNvSpPr/>
          <p:nvPr/>
        </p:nvSpPr>
        <p:spPr>
          <a:xfrm>
            <a:off x="8394192" y="2377440"/>
            <a:ext cx="2926080" cy="347472"/>
          </a:xfrm>
          <a:prstGeom prst="rect">
            <a:avLst/>
          </a:prstGeom>
          <a:noFill/>
          <a:ln/>
        </p:spPr>
        <p:txBody>
          <a:bodyPr wrap="square" lIns="0" tIns="0" rIns="0" bIns="0" rtlCol="0" anchor="ctr"/>
          <a:lstStyle/>
          <a:p>
            <a:pPr marL="0" indent="0">
              <a:buNone/>
            </a:pPr>
            <a:r>
              <a:rPr lang="en-US" sz="1800" b="1">
                <a:solidFill>
                  <a:srgbClr val="F8FBFF"/>
                </a:solidFill>
                <a:latin typeface="Carlito" pitchFamily="34" charset="0"/>
                <a:ea typeface="Carlito" pitchFamily="34" charset="-122"/>
                <a:cs typeface="Carlito" pitchFamily="34" charset="-120"/>
              </a:rPr>
              <a:t>Watch the request path</a:t>
            </a:r>
            <a:endParaRPr lang="en-US" sz="1800" dirty="0"/>
          </a:p>
        </p:txBody>
      </p:sp>
      <p:sp>
        <p:nvSpPr>
          <p:cNvPr id="21" name="Shape 18"/>
          <p:cNvSpPr/>
          <p:nvPr/>
        </p:nvSpPr>
        <p:spPr>
          <a:xfrm>
            <a:off x="8394192" y="3063240"/>
            <a:ext cx="438912" cy="438912"/>
          </a:xfrm>
          <a:prstGeom prst="ellipse">
            <a:avLst/>
          </a:prstGeom>
          <a:solidFill>
            <a:srgbClr val="39C6D8">
              <a:alpha val="15000"/>
            </a:srgbClr>
          </a:solidFill>
          <a:ln w="15240">
            <a:solidFill>
              <a:srgbClr val="39C6D8"/>
            </a:solidFill>
            <a:prstDash val="solid"/>
          </a:ln>
        </p:spPr>
        <p:txBody>
          <a:bodyPr/>
          <a:lstStyle/>
          <a:p>
            <a:endParaRPr lang="en-US"/>
          </a:p>
        </p:txBody>
      </p:sp>
      <p:sp>
        <p:nvSpPr>
          <p:cNvPr id="22" name="Text 19"/>
          <p:cNvSpPr/>
          <p:nvPr/>
        </p:nvSpPr>
        <p:spPr>
          <a:xfrm>
            <a:off x="8394192" y="3145536"/>
            <a:ext cx="438912" cy="182880"/>
          </a:xfrm>
          <a:prstGeom prst="rect">
            <a:avLst/>
          </a:prstGeom>
          <a:noFill/>
          <a:ln/>
        </p:spPr>
        <p:txBody>
          <a:bodyPr wrap="square" lIns="0" tIns="0" rIns="0" bIns="0" rtlCol="0" anchor="ctr"/>
          <a:lstStyle/>
          <a:p>
            <a:pPr marL="0" indent="0" algn="ctr">
              <a:buNone/>
            </a:pPr>
            <a:r>
              <a:rPr lang="en-US" sz="1000" b="1" dirty="0">
                <a:solidFill>
                  <a:srgbClr val="39C6D8"/>
                </a:solidFill>
                <a:latin typeface="Carlito" pitchFamily="34" charset="0"/>
                <a:ea typeface="Carlito" pitchFamily="34" charset="-122"/>
                <a:cs typeface="Carlito" pitchFamily="34" charset="-120"/>
              </a:rPr>
              <a:t>1</a:t>
            </a:r>
            <a:endParaRPr lang="en-US" sz="1000" dirty="0"/>
          </a:p>
        </p:txBody>
      </p:sp>
      <p:sp>
        <p:nvSpPr>
          <p:cNvPr id="23" name="Text 20"/>
          <p:cNvSpPr/>
          <p:nvPr/>
        </p:nvSpPr>
        <p:spPr>
          <a:xfrm>
            <a:off x="8997696" y="3090672"/>
            <a:ext cx="2423160" cy="457200"/>
          </a:xfrm>
          <a:prstGeom prst="rect">
            <a:avLst/>
          </a:prstGeom>
          <a:noFill/>
          <a:ln/>
        </p:spPr>
        <p:txBody>
          <a:bodyPr wrap="square" lIns="0" tIns="0" rIns="0" bIns="0" rtlCol="0" anchor="ctr"/>
          <a:lstStyle/>
          <a:p>
            <a:pPr marL="0" indent="0">
              <a:buNone/>
            </a:pPr>
            <a:r>
              <a:rPr lang="en-US" sz="1150">
                <a:solidFill>
                  <a:srgbClr val="AAB7D8"/>
                </a:solidFill>
                <a:latin typeface="Carlito" pitchFamily="34" charset="0"/>
                <a:ea typeface="Carlito" pitchFamily="34" charset="-122"/>
                <a:cs typeface="Carlito" pitchFamily="34" charset="-120"/>
              </a:rPr>
              <a:t>Model selects get_weather</a:t>
            </a:r>
            <a:endParaRPr lang="en-US" sz="1150" dirty="0"/>
          </a:p>
        </p:txBody>
      </p:sp>
      <p:sp>
        <p:nvSpPr>
          <p:cNvPr id="24" name="Shape 21"/>
          <p:cNvSpPr/>
          <p:nvPr/>
        </p:nvSpPr>
        <p:spPr>
          <a:xfrm>
            <a:off x="8394192" y="3749040"/>
            <a:ext cx="438912" cy="438912"/>
          </a:xfrm>
          <a:prstGeom prst="ellipse">
            <a:avLst/>
          </a:prstGeom>
          <a:solidFill>
            <a:srgbClr val="39C6D8">
              <a:alpha val="15000"/>
            </a:srgbClr>
          </a:solidFill>
          <a:ln w="15240">
            <a:solidFill>
              <a:srgbClr val="39C6D8"/>
            </a:solidFill>
            <a:prstDash val="solid"/>
          </a:ln>
        </p:spPr>
        <p:txBody>
          <a:bodyPr/>
          <a:lstStyle/>
          <a:p>
            <a:endParaRPr lang="en-US"/>
          </a:p>
        </p:txBody>
      </p:sp>
      <p:sp>
        <p:nvSpPr>
          <p:cNvPr id="25" name="Text 22"/>
          <p:cNvSpPr/>
          <p:nvPr/>
        </p:nvSpPr>
        <p:spPr>
          <a:xfrm>
            <a:off x="8394192" y="3831336"/>
            <a:ext cx="438912" cy="182880"/>
          </a:xfrm>
          <a:prstGeom prst="rect">
            <a:avLst/>
          </a:prstGeom>
          <a:noFill/>
          <a:ln/>
        </p:spPr>
        <p:txBody>
          <a:bodyPr wrap="square" lIns="0" tIns="0" rIns="0" bIns="0" rtlCol="0" anchor="ctr"/>
          <a:lstStyle/>
          <a:p>
            <a:pPr marL="0" indent="0" algn="ctr">
              <a:buNone/>
            </a:pPr>
            <a:r>
              <a:rPr lang="en-US" sz="1000" b="1" dirty="0">
                <a:solidFill>
                  <a:srgbClr val="39C6D8"/>
                </a:solidFill>
                <a:latin typeface="Carlito" pitchFamily="34" charset="0"/>
                <a:ea typeface="Carlito" pitchFamily="34" charset="-122"/>
                <a:cs typeface="Carlito" pitchFamily="34" charset="-120"/>
              </a:rPr>
              <a:t>2</a:t>
            </a:r>
            <a:endParaRPr lang="en-US" sz="1000" dirty="0"/>
          </a:p>
        </p:txBody>
      </p:sp>
      <p:sp>
        <p:nvSpPr>
          <p:cNvPr id="26" name="Text 23"/>
          <p:cNvSpPr/>
          <p:nvPr/>
        </p:nvSpPr>
        <p:spPr>
          <a:xfrm>
            <a:off x="8997696" y="3776472"/>
            <a:ext cx="2423160" cy="457200"/>
          </a:xfrm>
          <a:prstGeom prst="rect">
            <a:avLst/>
          </a:prstGeom>
          <a:noFill/>
          <a:ln/>
        </p:spPr>
        <p:txBody>
          <a:bodyPr wrap="square" lIns="0" tIns="0" rIns="0" bIns="0" rtlCol="0" anchor="ctr"/>
          <a:lstStyle/>
          <a:p>
            <a:pPr marL="0" indent="0">
              <a:buNone/>
            </a:pPr>
            <a:r>
              <a:rPr lang="en-GB" sz="1150">
                <a:solidFill>
                  <a:srgbClr val="AAB7D8"/>
                </a:solidFill>
                <a:latin typeface="Carlito" pitchFamily="34" charset="0"/>
                <a:ea typeface="Carlito" pitchFamily="34" charset="-122"/>
                <a:cs typeface="Carlito" pitchFamily="34" charset="-120"/>
              </a:rPr>
              <a:t>MCP validates the city argument</a:t>
            </a:r>
            <a:endParaRPr lang="en-US" sz="1150" dirty="0"/>
          </a:p>
        </p:txBody>
      </p:sp>
      <p:sp>
        <p:nvSpPr>
          <p:cNvPr id="27" name="Shape 24"/>
          <p:cNvSpPr/>
          <p:nvPr/>
        </p:nvSpPr>
        <p:spPr>
          <a:xfrm>
            <a:off x="8394192" y="4434840"/>
            <a:ext cx="438912" cy="438912"/>
          </a:xfrm>
          <a:prstGeom prst="ellipse">
            <a:avLst/>
          </a:prstGeom>
          <a:solidFill>
            <a:srgbClr val="39C6D8">
              <a:alpha val="15000"/>
            </a:srgbClr>
          </a:solidFill>
          <a:ln w="15240">
            <a:solidFill>
              <a:srgbClr val="39C6D8"/>
            </a:solidFill>
            <a:prstDash val="solid"/>
          </a:ln>
        </p:spPr>
        <p:txBody>
          <a:bodyPr/>
          <a:lstStyle/>
          <a:p>
            <a:endParaRPr lang="en-US"/>
          </a:p>
        </p:txBody>
      </p:sp>
      <p:sp>
        <p:nvSpPr>
          <p:cNvPr id="28" name="Text 25"/>
          <p:cNvSpPr/>
          <p:nvPr/>
        </p:nvSpPr>
        <p:spPr>
          <a:xfrm>
            <a:off x="8394192" y="4517136"/>
            <a:ext cx="438912" cy="182880"/>
          </a:xfrm>
          <a:prstGeom prst="rect">
            <a:avLst/>
          </a:prstGeom>
          <a:noFill/>
          <a:ln/>
        </p:spPr>
        <p:txBody>
          <a:bodyPr wrap="square" lIns="0" tIns="0" rIns="0" bIns="0" rtlCol="0" anchor="ctr"/>
          <a:lstStyle/>
          <a:p>
            <a:pPr marL="0" indent="0" algn="ctr">
              <a:buNone/>
            </a:pPr>
            <a:r>
              <a:rPr lang="en-US" sz="1000" b="1" dirty="0">
                <a:solidFill>
                  <a:srgbClr val="39C6D8"/>
                </a:solidFill>
                <a:latin typeface="Carlito" pitchFamily="34" charset="0"/>
                <a:ea typeface="Carlito" pitchFamily="34" charset="-122"/>
                <a:cs typeface="Carlito" pitchFamily="34" charset="-120"/>
              </a:rPr>
              <a:t>3</a:t>
            </a:r>
            <a:endParaRPr lang="en-US" sz="1000" dirty="0"/>
          </a:p>
        </p:txBody>
      </p:sp>
      <p:sp>
        <p:nvSpPr>
          <p:cNvPr id="29" name="Text 26"/>
          <p:cNvSpPr/>
          <p:nvPr/>
        </p:nvSpPr>
        <p:spPr>
          <a:xfrm>
            <a:off x="8997696" y="4462272"/>
            <a:ext cx="2423160" cy="457200"/>
          </a:xfrm>
          <a:prstGeom prst="rect">
            <a:avLst/>
          </a:prstGeom>
          <a:noFill/>
          <a:ln/>
        </p:spPr>
        <p:txBody>
          <a:bodyPr wrap="square" lIns="0" tIns="0" rIns="0" bIns="0" rtlCol="0" anchor="ctr"/>
          <a:lstStyle/>
          <a:p>
            <a:pPr marL="0" indent="0">
              <a:buNone/>
            </a:pPr>
            <a:r>
              <a:rPr lang="en-GB" sz="1150">
                <a:solidFill>
                  <a:srgbClr val="AAB7D8"/>
                </a:solidFill>
                <a:latin typeface="Carlito" pitchFamily="34" charset="0"/>
                <a:ea typeface="Carlito" pitchFamily="34" charset="-122"/>
                <a:cs typeface="Carlito" pitchFamily="34" charset="-120"/>
              </a:rPr>
              <a:t>Host renders the structured result</a:t>
            </a:r>
            <a:endParaRPr lang="en-US" sz="1150" dirty="0"/>
          </a:p>
        </p:txBody>
      </p:sp>
      <p:sp>
        <p:nvSpPr>
          <p:cNvPr id="30" name="Shape 27"/>
          <p:cNvSpPr/>
          <p:nvPr/>
        </p:nvSpPr>
        <p:spPr>
          <a:xfrm>
            <a:off x="8394192" y="5440680"/>
            <a:ext cx="987552" cy="347472"/>
          </a:xfrm>
          <a:prstGeom prst="roundRect">
            <a:avLst>
              <a:gd name="adj" fmla="val 21053"/>
            </a:avLst>
          </a:prstGeom>
          <a:solidFill>
            <a:srgbClr val="39C6D8"/>
          </a:solidFill>
          <a:ln w="12700">
            <a:solidFill>
              <a:srgbClr val="39C6D8"/>
            </a:solidFill>
            <a:prstDash val="solid"/>
          </a:ln>
        </p:spPr>
        <p:txBody>
          <a:bodyPr/>
          <a:lstStyle/>
          <a:p>
            <a:endParaRPr lang="en-US"/>
          </a:p>
        </p:txBody>
      </p:sp>
      <p:sp>
        <p:nvSpPr>
          <p:cNvPr id="31" name="Text 28"/>
          <p:cNvSpPr/>
          <p:nvPr/>
        </p:nvSpPr>
        <p:spPr>
          <a:xfrm>
            <a:off x="8522208" y="5513832"/>
            <a:ext cx="731520" cy="164592"/>
          </a:xfrm>
          <a:prstGeom prst="rect">
            <a:avLst/>
          </a:prstGeom>
          <a:noFill/>
          <a:ln/>
        </p:spPr>
        <p:txBody>
          <a:bodyPr wrap="square" lIns="0" tIns="0" rIns="0" bIns="0" rtlCol="0" anchor="ctr"/>
          <a:lstStyle/>
          <a:p>
            <a:pPr marL="0" indent="0" algn="ctr">
              <a:buNone/>
            </a:pPr>
            <a:r>
              <a:rPr lang="en-US" sz="850" b="1" kern="0" spc="110" dirty="0">
                <a:solidFill>
                  <a:srgbClr val="1E224E"/>
                </a:solidFill>
                <a:latin typeface="Carlito" pitchFamily="34" charset="0"/>
                <a:ea typeface="Carlito" pitchFamily="34" charset="-122"/>
                <a:cs typeface="Carlito" pitchFamily="34" charset="-120"/>
              </a:rPr>
              <a:t>DEMO</a:t>
            </a:r>
            <a:endParaRPr lang="en-US" sz="850" dirty="0"/>
          </a:p>
        </p:txBody>
      </p:sp>
      <p:sp>
        <p:nvSpPr>
          <p:cNvPr id="32" name="Slide Number Placeholder 0"/>
          <p:cNvSpPr>
            <a:spLocks noGrp="1"/>
          </p:cNvSpPr>
          <p:nvPr>
            <p:ph type="sldNum" sz="quarter" idx="4294967295"/>
          </p:nvPr>
        </p:nvSpPr>
        <p:spPr>
          <a:xfrm>
            <a:off x="11777472" y="6455664"/>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AAB7D8"/>
                </a:solidFill>
                <a:latin typeface="Carlito"/>
                <a:ea typeface="Carlito"/>
                <a:cs typeface="Carlito"/>
              </a:defRPr>
            </a:lvl1pPr>
          </a:lstStyle>
          <a:p>
            <a:pPr algn="l"/>
            <a:r>
              <a:rPr lang="en-US" b="0"/>
              <a:t>5</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9966960" y="-1143000"/>
            <a:ext cx="3383280" cy="3383280"/>
          </a:xfrm>
          <a:prstGeom prst="ellipse">
            <a:avLst/>
          </a:prstGeom>
          <a:solidFill>
            <a:srgbClr val="1E224E">
              <a:alpha val="0"/>
            </a:srgbClr>
          </a:solidFill>
          <a:ln w="16510">
            <a:solidFill>
              <a:srgbClr val="39C6D8">
                <a:alpha val="38000"/>
              </a:srgbClr>
            </a:solidFill>
            <a:prstDash val="solid"/>
          </a:ln>
        </p:spPr>
        <p:txBody>
          <a:bodyPr/>
          <a:lstStyle/>
          <a:p>
            <a:endParaRPr lang="en-US"/>
          </a:p>
        </p:txBody>
      </p:sp>
      <p:sp>
        <p:nvSpPr>
          <p:cNvPr id="3" name="Shape 1"/>
          <p:cNvSpPr/>
          <p:nvPr/>
        </p:nvSpPr>
        <p:spPr>
          <a:xfrm>
            <a:off x="10469880" y="-658368"/>
            <a:ext cx="2423160" cy="2423160"/>
          </a:xfrm>
          <a:prstGeom prst="ellipse">
            <a:avLst/>
          </a:prstGeom>
          <a:solidFill>
            <a:srgbClr val="1E224E">
              <a:alpha val="0"/>
            </a:srgbClr>
          </a:solidFill>
          <a:ln w="12700">
            <a:solidFill>
              <a:srgbClr val="2F78D8">
                <a:alpha val="42000"/>
              </a:srgbClr>
            </a:solidFill>
            <a:prstDash val="solid"/>
          </a:ln>
        </p:spPr>
        <p:txBody>
          <a:bodyPr/>
          <a:lstStyle/>
          <a:p>
            <a:endParaRPr lang="en-US"/>
          </a:p>
        </p:txBody>
      </p:sp>
      <p:sp>
        <p:nvSpPr>
          <p:cNvPr id="4" name="Shape 2"/>
          <p:cNvSpPr/>
          <p:nvPr/>
        </p:nvSpPr>
        <p:spPr>
          <a:xfrm>
            <a:off x="11109960" y="594360"/>
            <a:ext cx="73152" cy="73152"/>
          </a:xfrm>
          <a:prstGeom prst="ellipse">
            <a:avLst/>
          </a:prstGeom>
          <a:solidFill>
            <a:srgbClr val="68E1E8"/>
          </a:solidFill>
          <a:ln w="12700">
            <a:solidFill>
              <a:srgbClr val="68E1E8">
                <a:alpha val="0"/>
              </a:srgbClr>
            </a:solidFill>
            <a:prstDash val="solid"/>
          </a:ln>
        </p:spPr>
        <p:txBody>
          <a:bodyPr/>
          <a:lstStyle/>
          <a:p>
            <a:endParaRPr lang="en-US"/>
          </a:p>
        </p:txBody>
      </p:sp>
      <p:sp>
        <p:nvSpPr>
          <p:cNvPr id="5" name="Shape 3"/>
          <p:cNvSpPr/>
          <p:nvPr/>
        </p:nvSpPr>
        <p:spPr>
          <a:xfrm>
            <a:off x="11384280" y="850392"/>
            <a:ext cx="45720" cy="45720"/>
          </a:xfrm>
          <a:prstGeom prst="ellipse">
            <a:avLst/>
          </a:prstGeom>
          <a:solidFill>
            <a:srgbClr val="39C6D8"/>
          </a:solidFill>
          <a:ln w="12700">
            <a:solidFill>
              <a:srgbClr val="39C6D8">
                <a:alpha val="0"/>
              </a:srgbClr>
            </a:solidFill>
            <a:prstDash val="solid"/>
          </a:ln>
        </p:spPr>
        <p:txBody>
          <a:bodyPr/>
          <a:lstStyle/>
          <a:p>
            <a:endParaRPr lang="en-US"/>
          </a:p>
        </p:txBody>
      </p:sp>
      <p:sp>
        <p:nvSpPr>
          <p:cNvPr id="6" name="Shape 4"/>
          <p:cNvSpPr/>
          <p:nvPr/>
        </p:nvSpPr>
        <p:spPr>
          <a:xfrm>
            <a:off x="11631168" y="1106424"/>
            <a:ext cx="36576" cy="36576"/>
          </a:xfrm>
          <a:prstGeom prst="ellipse">
            <a:avLst/>
          </a:prstGeom>
          <a:solidFill>
            <a:srgbClr val="2F78D8"/>
          </a:solidFill>
          <a:ln w="12700">
            <a:solidFill>
              <a:srgbClr val="2F78D8">
                <a:alpha val="0"/>
              </a:srgbClr>
            </a:solidFill>
            <a:prstDash val="solid"/>
          </a:ln>
        </p:spPr>
        <p:txBody>
          <a:bodyPr/>
          <a:lstStyle/>
          <a:p>
            <a:endParaRPr lang="en-US"/>
          </a:p>
        </p:txBody>
      </p:sp>
      <p:sp>
        <p:nvSpPr>
          <p:cNvPr id="7" name="Shape 5"/>
          <p:cNvSpPr/>
          <p:nvPr/>
        </p:nvSpPr>
        <p:spPr>
          <a:xfrm>
            <a:off x="-1371600" y="5166360"/>
            <a:ext cx="2926080" cy="2926080"/>
          </a:xfrm>
          <a:prstGeom prst="ellipse">
            <a:avLst/>
          </a:prstGeom>
          <a:solidFill>
            <a:srgbClr val="1E224E">
              <a:alpha val="0"/>
            </a:srgbClr>
          </a:solidFill>
          <a:ln w="12700">
            <a:solidFill>
              <a:srgbClr val="39C6D8">
                <a:alpha val="26000"/>
              </a:srgbClr>
            </a:solidFill>
            <a:prstDash val="solid"/>
          </a:ln>
        </p:spPr>
        <p:txBody>
          <a:bodyPr/>
          <a:lstStyle/>
          <a:p>
            <a:endParaRPr lang="en-US"/>
          </a:p>
        </p:txBody>
      </p:sp>
      <p:sp>
        <p:nvSpPr>
          <p:cNvPr id="8" name="TextBox 7"/>
          <p:cNvSpPr txBox="1"/>
          <p:nvPr/>
        </p:nvSpPr>
        <p:spPr>
          <a:xfrm>
            <a:off x="594360" y="502920"/>
            <a:ext cx="7315200" cy="256032"/>
          </a:xfrm>
          <a:prstGeom prst="rect">
            <a:avLst/>
          </a:prstGeom>
          <a:noFill/>
        </p:spPr>
        <p:txBody>
          <a:bodyPr wrap="square" lIns="0" tIns="0" rIns="0" bIns="0">
            <a:spAutoFit/>
          </a:bodyPr>
          <a:lstStyle/>
          <a:p>
            <a:pPr>
              <a:spcAft>
                <a:spcPts val="900"/>
              </a:spcAft>
            </a:pPr>
            <a:r>
              <a:rPr sz="1100" b="1">
                <a:solidFill>
                  <a:srgbClr val="39C6D8"/>
                </a:solidFill>
                <a:latin typeface="Carlito"/>
              </a:rPr>
              <a:t>WORKSHOP SETUP</a:t>
            </a:r>
          </a:p>
        </p:txBody>
      </p:sp>
      <p:sp>
        <p:nvSpPr>
          <p:cNvPr id="9" name="TextBox 8"/>
          <p:cNvSpPr txBox="1"/>
          <p:nvPr/>
        </p:nvSpPr>
        <p:spPr>
          <a:xfrm>
            <a:off x="594360" y="868680"/>
            <a:ext cx="10698480" cy="430887"/>
          </a:xfrm>
          <a:prstGeom prst="rect">
            <a:avLst/>
          </a:prstGeom>
          <a:noFill/>
        </p:spPr>
        <p:txBody>
          <a:bodyPr wrap="square" lIns="0" tIns="0" rIns="0" bIns="0">
            <a:spAutoFit/>
          </a:bodyPr>
          <a:lstStyle/>
          <a:p>
            <a:pPr>
              <a:spcAft>
                <a:spcPts val="900"/>
              </a:spcAft>
            </a:pPr>
            <a:r>
              <a:rPr sz="2800" b="1" dirty="0">
                <a:solidFill>
                  <a:srgbClr val="F8FBFF"/>
                </a:solidFill>
                <a:latin typeface="Carlito"/>
              </a:rPr>
              <a:t>Bring your own Windows VM</a:t>
            </a:r>
            <a:r>
              <a:rPr lang="en-GB" sz="2800" b="1" dirty="0">
                <a:solidFill>
                  <a:srgbClr val="F8FBFF"/>
                </a:solidFill>
              </a:rPr>
              <a:t> http://aka.ms/AA13mnds</a:t>
            </a:r>
            <a:endParaRPr sz="2800" b="1" dirty="0">
              <a:solidFill>
                <a:srgbClr val="F8FBFF"/>
              </a:solidFill>
              <a:latin typeface="Carlito"/>
            </a:endParaRPr>
          </a:p>
        </p:txBody>
      </p:sp>
      <p:sp>
        <p:nvSpPr>
          <p:cNvPr id="10" name="TextBox 9"/>
          <p:cNvSpPr txBox="1"/>
          <p:nvPr/>
        </p:nvSpPr>
        <p:spPr>
          <a:xfrm>
            <a:off x="612648" y="1527048"/>
            <a:ext cx="10698480" cy="365760"/>
          </a:xfrm>
          <a:prstGeom prst="rect">
            <a:avLst/>
          </a:prstGeom>
          <a:noFill/>
        </p:spPr>
        <p:txBody>
          <a:bodyPr wrap="square" lIns="0" tIns="0" rIns="0" bIns="0">
            <a:spAutoFit/>
          </a:bodyPr>
          <a:lstStyle/>
          <a:p>
            <a:pPr>
              <a:spcAft>
                <a:spcPts val="900"/>
              </a:spcAft>
            </a:pPr>
            <a:r>
              <a:rPr sz="1400" b="0">
                <a:solidFill>
                  <a:srgbClr val="AAB7D8"/>
                </a:solidFill>
                <a:latin typeface="Carlito"/>
              </a:rPr>
              <a:t>Create the VM on your platform, then prepare the workshop inside Windows.</a:t>
            </a:r>
          </a:p>
        </p:txBody>
      </p:sp>
      <p:sp>
        <p:nvSpPr>
          <p:cNvPr id="11" name="TextBox 10"/>
          <p:cNvSpPr txBox="1"/>
          <p:nvPr/>
        </p:nvSpPr>
        <p:spPr>
          <a:xfrm>
            <a:off x="658368" y="2103120"/>
            <a:ext cx="5074920" cy="365760"/>
          </a:xfrm>
          <a:prstGeom prst="rect">
            <a:avLst/>
          </a:prstGeom>
          <a:noFill/>
        </p:spPr>
        <p:txBody>
          <a:bodyPr wrap="square" lIns="0" tIns="0" rIns="0" bIns="0">
            <a:spAutoFit/>
          </a:bodyPr>
          <a:lstStyle/>
          <a:p>
            <a:pPr>
              <a:spcAft>
                <a:spcPts val="900"/>
              </a:spcAft>
            </a:pPr>
            <a:r>
              <a:rPr sz="2100" b="1">
                <a:solidFill>
                  <a:srgbClr val="F8FBFF"/>
                </a:solidFill>
                <a:latin typeface="Carlito"/>
              </a:rPr>
              <a:t>Mac with UTM</a:t>
            </a:r>
          </a:p>
        </p:txBody>
      </p:sp>
      <p:sp>
        <p:nvSpPr>
          <p:cNvPr id="12" name="TextBox 11"/>
          <p:cNvSpPr txBox="1"/>
          <p:nvPr/>
        </p:nvSpPr>
        <p:spPr>
          <a:xfrm>
            <a:off x="658368" y="2642616"/>
            <a:ext cx="5047488" cy="1691640"/>
          </a:xfrm>
          <a:prstGeom prst="rect">
            <a:avLst/>
          </a:prstGeom>
          <a:noFill/>
        </p:spPr>
        <p:txBody>
          <a:bodyPr wrap="square" lIns="0" tIns="0" rIns="0" bIns="0">
            <a:spAutoFit/>
          </a:bodyPr>
          <a:lstStyle/>
          <a:p>
            <a:pPr>
              <a:spcAft>
                <a:spcPts val="900"/>
              </a:spcAft>
            </a:pPr>
            <a:r>
              <a:rPr sz="1600" b="0">
                <a:solidFill>
                  <a:srgbClr val="AAB7D8"/>
                </a:solidFill>
                <a:latin typeface="Carlito"/>
              </a:rPr>
              <a:t>1  Download a Windows 11 ISO matching your Mac: ARM64 for Apple silicon, x64 for Intel.</a:t>
            </a:r>
          </a:p>
          <a:p>
            <a:pPr>
              <a:spcAft>
                <a:spcPts val="900"/>
              </a:spcAft>
            </a:pPr>
            <a:r>
              <a:rPr sz="1600" b="0">
                <a:solidFill>
                  <a:srgbClr val="AAB7D8"/>
                </a:solidFill>
                <a:latin typeface="Carlito"/>
              </a:rPr>
              <a:t>2  In UTM, choose Virtualize, then Windows. Attach the ISO and enable drivers / SPICE tools.</a:t>
            </a:r>
          </a:p>
          <a:p>
            <a:pPr>
              <a:spcAft>
                <a:spcPts val="900"/>
              </a:spcAft>
            </a:pPr>
            <a:r>
              <a:rPr sz="1600" b="0">
                <a:solidFill>
                  <a:srgbClr val="AAB7D8"/>
                </a:solidFill>
                <a:latin typeface="Carlito"/>
              </a:rPr>
              <a:t>3  Allocate RAM, CPU and disk, then install Windows.</a:t>
            </a:r>
          </a:p>
        </p:txBody>
      </p:sp>
      <p:sp>
        <p:nvSpPr>
          <p:cNvPr id="13" name="TextBox 12"/>
          <p:cNvSpPr txBox="1"/>
          <p:nvPr/>
        </p:nvSpPr>
        <p:spPr>
          <a:xfrm>
            <a:off x="6327648" y="2103120"/>
            <a:ext cx="5074920" cy="365760"/>
          </a:xfrm>
          <a:prstGeom prst="rect">
            <a:avLst/>
          </a:prstGeom>
          <a:noFill/>
        </p:spPr>
        <p:txBody>
          <a:bodyPr wrap="square" lIns="0" tIns="0" rIns="0" bIns="0">
            <a:spAutoFit/>
          </a:bodyPr>
          <a:lstStyle/>
          <a:p>
            <a:pPr>
              <a:spcAft>
                <a:spcPts val="900"/>
              </a:spcAft>
            </a:pPr>
            <a:r>
              <a:rPr sz="2100" b="1">
                <a:solidFill>
                  <a:srgbClr val="F8FBFF"/>
                </a:solidFill>
                <a:latin typeface="Carlito"/>
              </a:rPr>
              <a:t>Windows with Hyper-V</a:t>
            </a:r>
          </a:p>
        </p:txBody>
      </p:sp>
      <p:sp>
        <p:nvSpPr>
          <p:cNvPr id="14" name="TextBox 13"/>
          <p:cNvSpPr txBox="1"/>
          <p:nvPr/>
        </p:nvSpPr>
        <p:spPr>
          <a:xfrm>
            <a:off x="6327648" y="2642616"/>
            <a:ext cx="5074920" cy="1691640"/>
          </a:xfrm>
          <a:prstGeom prst="rect">
            <a:avLst/>
          </a:prstGeom>
          <a:noFill/>
        </p:spPr>
        <p:txBody>
          <a:bodyPr wrap="square" lIns="0" tIns="0" rIns="0" bIns="0">
            <a:spAutoFit/>
          </a:bodyPr>
          <a:lstStyle/>
          <a:p>
            <a:pPr>
              <a:spcAft>
                <a:spcPts val="900"/>
              </a:spcAft>
            </a:pPr>
            <a:r>
              <a:rPr sz="1600" b="0">
                <a:solidFill>
                  <a:srgbClr val="AAB7D8"/>
                </a:solidFill>
                <a:latin typeface="Carlito"/>
              </a:rPr>
              <a:t>1  Enable Hyper-V on a supported Windows host. In Hyper-V Manager, select New, Virtual Machine.</a:t>
            </a:r>
          </a:p>
          <a:p>
            <a:pPr>
              <a:spcAft>
                <a:spcPts val="900"/>
              </a:spcAft>
            </a:pPr>
            <a:r>
              <a:rPr sz="1600" b="0">
                <a:solidFill>
                  <a:srgbClr val="AAB7D8"/>
                </a:solidFill>
                <a:latin typeface="Carlito"/>
              </a:rPr>
              <a:t>2  Choose Generation 2. Assign memory, a virtual disk, network and a Windows 11 ISO.</a:t>
            </a:r>
          </a:p>
          <a:p>
            <a:pPr>
              <a:spcAft>
                <a:spcPts val="900"/>
              </a:spcAft>
            </a:pPr>
            <a:r>
              <a:rPr sz="1600" b="0">
                <a:solidFill>
                  <a:srgbClr val="AAB7D8"/>
                </a:solidFill>
                <a:latin typeface="Carlito"/>
              </a:rPr>
              <a:t>3  Enable Secure Boot and TPM, then install Windows.</a:t>
            </a:r>
          </a:p>
        </p:txBody>
      </p:sp>
      <p:sp>
        <p:nvSpPr>
          <p:cNvPr id="15" name="TextBox 14"/>
          <p:cNvSpPr txBox="1"/>
          <p:nvPr/>
        </p:nvSpPr>
        <p:spPr>
          <a:xfrm>
            <a:off x="658368" y="4507992"/>
            <a:ext cx="10789920" cy="320040"/>
          </a:xfrm>
          <a:prstGeom prst="rect">
            <a:avLst/>
          </a:prstGeom>
          <a:noFill/>
        </p:spPr>
        <p:txBody>
          <a:bodyPr wrap="square" lIns="0" tIns="0" rIns="0" bIns="0">
            <a:spAutoFit/>
          </a:bodyPr>
          <a:lstStyle/>
          <a:p>
            <a:pPr>
              <a:spcAft>
                <a:spcPts val="900"/>
              </a:spcAft>
            </a:pPr>
            <a:r>
              <a:rPr sz="1800" b="1">
                <a:solidFill>
                  <a:srgbClr val="39C6D8"/>
                </a:solidFill>
                <a:latin typeface="Carlito"/>
              </a:rPr>
              <a:t>Inside the VM: prepare online, then test offline</a:t>
            </a:r>
          </a:p>
        </p:txBody>
      </p:sp>
      <p:sp>
        <p:nvSpPr>
          <p:cNvPr id="16" name="TextBox 15"/>
          <p:cNvSpPr txBox="1"/>
          <p:nvPr/>
        </p:nvSpPr>
        <p:spPr>
          <a:xfrm>
            <a:off x="658368" y="4956048"/>
            <a:ext cx="6629400" cy="777240"/>
          </a:xfrm>
          <a:prstGeom prst="rect">
            <a:avLst/>
          </a:prstGeom>
          <a:noFill/>
        </p:spPr>
        <p:txBody>
          <a:bodyPr wrap="square" lIns="0" tIns="0" rIns="0" bIns="0">
            <a:spAutoFit/>
          </a:bodyPr>
          <a:lstStyle/>
          <a:p>
            <a:pPr>
              <a:spcAft>
                <a:spcPts val="900"/>
              </a:spcAft>
            </a:pPr>
            <a:r>
              <a:rPr sz="1500" b="0">
                <a:solidFill>
                  <a:srgbClr val="AAB7D8"/>
                </a:solidFill>
                <a:latin typeface="Carlito"/>
              </a:rPr>
              <a:t>Install Python 3.11+ and VS Code. Clone the repo, then follow docs/vm-image-runbook.md to install dependencies and cache the model.</a:t>
            </a:r>
          </a:p>
        </p:txBody>
      </p:sp>
      <p:sp>
        <p:nvSpPr>
          <p:cNvPr id="17" name="TextBox 16"/>
          <p:cNvSpPr txBox="1"/>
          <p:nvPr/>
        </p:nvSpPr>
        <p:spPr>
          <a:xfrm>
            <a:off x="7772400" y="4965192"/>
            <a:ext cx="3794760" cy="594360"/>
          </a:xfrm>
          <a:prstGeom prst="rect">
            <a:avLst/>
          </a:prstGeom>
          <a:noFill/>
        </p:spPr>
        <p:txBody>
          <a:bodyPr wrap="square" lIns="0" tIns="0" rIns="0" bIns="0">
            <a:spAutoFit/>
          </a:bodyPr>
          <a:lstStyle/>
          <a:p>
            <a:pPr>
              <a:spcAft>
                <a:spcPts val="900"/>
              </a:spcAft>
            </a:pPr>
            <a:r>
              <a:rPr sz="1500" b="0">
                <a:solidFill>
                  <a:srgbClr val="D9E5FF"/>
                </a:solidFill>
                <a:latin typeface="Courier New"/>
              </a:rPr>
              <a:t>.\workshop.ps1 check</a:t>
            </a:r>
          </a:p>
        </p:txBody>
      </p:sp>
      <p:sp>
        <p:nvSpPr>
          <p:cNvPr id="18" name="TextBox 17"/>
          <p:cNvSpPr txBox="1"/>
          <p:nvPr/>
        </p:nvSpPr>
        <p:spPr>
          <a:xfrm>
            <a:off x="7772400" y="5404104"/>
            <a:ext cx="3749039" cy="274320"/>
          </a:xfrm>
          <a:prstGeom prst="rect">
            <a:avLst/>
          </a:prstGeom>
          <a:noFill/>
        </p:spPr>
        <p:txBody>
          <a:bodyPr wrap="square" lIns="0" tIns="0" rIns="0" bIns="0">
            <a:spAutoFit/>
          </a:bodyPr>
          <a:lstStyle/>
          <a:p>
            <a:pPr>
              <a:spcAft>
                <a:spcPts val="900"/>
              </a:spcAft>
            </a:pPr>
            <a:r>
              <a:rPr sz="1200" b="0">
                <a:solidFill>
                  <a:srgbClr val="AAB7D8"/>
                </a:solidFill>
                <a:latin typeface="Carlito"/>
              </a:rPr>
              <a:t>Run from the repo with networking off.</a:t>
            </a:r>
          </a:p>
        </p:txBody>
      </p:sp>
      <p:sp>
        <p:nvSpPr>
          <p:cNvPr id="19" name="TextBox 18"/>
          <p:cNvSpPr txBox="1"/>
          <p:nvPr/>
        </p:nvSpPr>
        <p:spPr>
          <a:xfrm>
            <a:off x="658368" y="5897880"/>
            <a:ext cx="10789920" cy="274320"/>
          </a:xfrm>
          <a:prstGeom prst="rect">
            <a:avLst/>
          </a:prstGeom>
          <a:noFill/>
        </p:spPr>
        <p:txBody>
          <a:bodyPr wrap="square" lIns="0" tIns="0" rIns="0" bIns="0">
            <a:spAutoFit/>
          </a:bodyPr>
          <a:lstStyle/>
          <a:p>
            <a:pPr>
              <a:spcAft>
                <a:spcPts val="900"/>
              </a:spcAft>
            </a:pPr>
            <a:r>
              <a:rPr sz="1200" b="0">
                <a:solidFill>
                  <a:srgbClr val="F8FBFF"/>
                </a:solidFill>
                <a:latin typeface="Carlito"/>
              </a:rPr>
              <a:t>UTM / Windows ARM workshop compatibility is unverified. Pass all checks before the event.</a:t>
            </a:r>
          </a:p>
        </p:txBody>
      </p:sp>
      <p:sp>
        <p:nvSpPr>
          <p:cNvPr id="20" name="TextBox 19"/>
          <p:cNvSpPr txBox="1"/>
          <p:nvPr/>
        </p:nvSpPr>
        <p:spPr>
          <a:xfrm>
            <a:off x="658368" y="6272784"/>
            <a:ext cx="10789920" cy="228600"/>
          </a:xfrm>
          <a:prstGeom prst="rect">
            <a:avLst/>
          </a:prstGeom>
          <a:noFill/>
        </p:spPr>
        <p:txBody>
          <a:bodyPr wrap="square" lIns="0" tIns="0" rIns="0" bIns="0">
            <a:spAutoFit/>
          </a:bodyPr>
          <a:lstStyle/>
          <a:p>
            <a:pPr>
              <a:spcAft>
                <a:spcPts val="900"/>
              </a:spcAft>
            </a:pPr>
            <a:r>
              <a:rPr sz="1100" b="0">
                <a:solidFill>
                  <a:srgbClr val="39C6D8"/>
                </a:solidFill>
                <a:latin typeface="Carlito"/>
                <a:hlinkClick r:id="rId3"/>
              </a:rPr>
              <a:t>github.com/GlobalAICommunity/mcp-fl-workshop</a:t>
            </a:r>
          </a:p>
        </p:txBody>
      </p:sp>
      <p:sp>
        <p:nvSpPr>
          <p:cNvPr id="21" name="TextBox 20"/>
          <p:cNvSpPr txBox="1"/>
          <p:nvPr/>
        </p:nvSpPr>
        <p:spPr>
          <a:xfrm>
            <a:off x="2880360" y="2157984"/>
            <a:ext cx="2743200" cy="276999"/>
          </a:xfrm>
          <a:prstGeom prst="rect">
            <a:avLst/>
          </a:prstGeom>
          <a:noFill/>
        </p:spPr>
        <p:txBody>
          <a:bodyPr wrap="square" lIns="0" tIns="0" rIns="0" bIns="0">
            <a:spAutoFit/>
          </a:bodyPr>
          <a:lstStyle/>
          <a:p>
            <a:r>
              <a:rPr u="sng" dirty="0" err="1">
                <a:solidFill>
                  <a:srgbClr val="39C6D8"/>
                </a:solidFill>
                <a:latin typeface="Carlito"/>
              </a:rPr>
              <a:t>mac.getutm.app</a:t>
            </a:r>
            <a:endParaRPr u="sng" dirty="0">
              <a:solidFill>
                <a:srgbClr val="39C6D8"/>
              </a:solidFill>
              <a:latin typeface="Carlito"/>
            </a:endParaRPr>
          </a:p>
        </p:txBody>
      </p:sp>
    </p:spTree>
    <p:extLst>
      <p:ext uri="{BB962C8B-B14F-4D97-AF65-F5344CB8AC3E}">
        <p14:creationId xmlns:p14="http://schemas.microsoft.com/office/powerpoint/2010/main" val="34047425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9966960" y="-1143000"/>
            <a:ext cx="3383280" cy="3383280"/>
          </a:xfrm>
          <a:prstGeom prst="ellipse">
            <a:avLst/>
          </a:prstGeom>
          <a:solidFill>
            <a:srgbClr val="1E224E">
              <a:alpha val="0"/>
            </a:srgbClr>
          </a:solidFill>
          <a:ln w="16510">
            <a:solidFill>
              <a:srgbClr val="39C6D8">
                <a:alpha val="38000"/>
              </a:srgbClr>
            </a:solidFill>
            <a:prstDash val="solid"/>
          </a:ln>
        </p:spPr>
        <p:txBody>
          <a:bodyPr/>
          <a:lstStyle/>
          <a:p>
            <a:endParaRPr lang="en-US"/>
          </a:p>
        </p:txBody>
      </p:sp>
      <p:sp>
        <p:nvSpPr>
          <p:cNvPr id="3" name="Shape 1"/>
          <p:cNvSpPr/>
          <p:nvPr/>
        </p:nvSpPr>
        <p:spPr>
          <a:xfrm>
            <a:off x="10469880" y="-658368"/>
            <a:ext cx="2423160" cy="2423160"/>
          </a:xfrm>
          <a:prstGeom prst="ellipse">
            <a:avLst/>
          </a:prstGeom>
          <a:solidFill>
            <a:srgbClr val="1E224E">
              <a:alpha val="0"/>
            </a:srgbClr>
          </a:solidFill>
          <a:ln w="12700">
            <a:solidFill>
              <a:srgbClr val="2F78D8">
                <a:alpha val="42000"/>
              </a:srgbClr>
            </a:solidFill>
            <a:prstDash val="solid"/>
          </a:ln>
        </p:spPr>
        <p:txBody>
          <a:bodyPr/>
          <a:lstStyle/>
          <a:p>
            <a:endParaRPr lang="en-US"/>
          </a:p>
        </p:txBody>
      </p:sp>
      <p:sp>
        <p:nvSpPr>
          <p:cNvPr id="4" name="Shape 2"/>
          <p:cNvSpPr/>
          <p:nvPr/>
        </p:nvSpPr>
        <p:spPr>
          <a:xfrm>
            <a:off x="11109960" y="594360"/>
            <a:ext cx="73152" cy="73152"/>
          </a:xfrm>
          <a:prstGeom prst="ellipse">
            <a:avLst/>
          </a:prstGeom>
          <a:solidFill>
            <a:srgbClr val="68E1E8"/>
          </a:solidFill>
          <a:ln w="12700">
            <a:solidFill>
              <a:srgbClr val="68E1E8">
                <a:alpha val="0"/>
              </a:srgbClr>
            </a:solidFill>
            <a:prstDash val="solid"/>
          </a:ln>
        </p:spPr>
        <p:txBody>
          <a:bodyPr/>
          <a:lstStyle/>
          <a:p>
            <a:endParaRPr lang="en-US"/>
          </a:p>
        </p:txBody>
      </p:sp>
      <p:sp>
        <p:nvSpPr>
          <p:cNvPr id="5" name="Shape 3"/>
          <p:cNvSpPr/>
          <p:nvPr/>
        </p:nvSpPr>
        <p:spPr>
          <a:xfrm>
            <a:off x="11384280" y="850392"/>
            <a:ext cx="45720" cy="45720"/>
          </a:xfrm>
          <a:prstGeom prst="ellipse">
            <a:avLst/>
          </a:prstGeom>
          <a:solidFill>
            <a:srgbClr val="39C6D8"/>
          </a:solidFill>
          <a:ln w="12700">
            <a:solidFill>
              <a:srgbClr val="39C6D8">
                <a:alpha val="0"/>
              </a:srgbClr>
            </a:solidFill>
            <a:prstDash val="solid"/>
          </a:ln>
        </p:spPr>
        <p:txBody>
          <a:bodyPr/>
          <a:lstStyle/>
          <a:p>
            <a:endParaRPr lang="en-US"/>
          </a:p>
        </p:txBody>
      </p:sp>
      <p:sp>
        <p:nvSpPr>
          <p:cNvPr id="6" name="Shape 4"/>
          <p:cNvSpPr/>
          <p:nvPr/>
        </p:nvSpPr>
        <p:spPr>
          <a:xfrm>
            <a:off x="11631168" y="1106424"/>
            <a:ext cx="36576" cy="36576"/>
          </a:xfrm>
          <a:prstGeom prst="ellipse">
            <a:avLst/>
          </a:prstGeom>
          <a:solidFill>
            <a:srgbClr val="2F78D8"/>
          </a:solidFill>
          <a:ln w="12700">
            <a:solidFill>
              <a:srgbClr val="2F78D8">
                <a:alpha val="0"/>
              </a:srgbClr>
            </a:solidFill>
            <a:prstDash val="solid"/>
          </a:ln>
        </p:spPr>
        <p:txBody>
          <a:bodyPr/>
          <a:lstStyle/>
          <a:p>
            <a:endParaRPr lang="en-US"/>
          </a:p>
        </p:txBody>
      </p:sp>
      <p:sp>
        <p:nvSpPr>
          <p:cNvPr id="7" name="Shape 5"/>
          <p:cNvSpPr/>
          <p:nvPr/>
        </p:nvSpPr>
        <p:spPr>
          <a:xfrm>
            <a:off x="-1371600" y="5166360"/>
            <a:ext cx="2926080" cy="2926080"/>
          </a:xfrm>
          <a:prstGeom prst="ellipse">
            <a:avLst/>
          </a:prstGeom>
          <a:solidFill>
            <a:srgbClr val="1E224E">
              <a:alpha val="0"/>
            </a:srgbClr>
          </a:solidFill>
          <a:ln w="12700">
            <a:solidFill>
              <a:srgbClr val="39C6D8">
                <a:alpha val="26000"/>
              </a:srgbClr>
            </a:solidFill>
            <a:prstDash val="solid"/>
          </a:ln>
        </p:spPr>
        <p:txBody>
          <a:bodyPr/>
          <a:lstStyle/>
          <a:p>
            <a:endParaRPr lang="en-US"/>
          </a:p>
        </p:txBody>
      </p:sp>
      <p:sp>
        <p:nvSpPr>
          <p:cNvPr id="8" name="TextBox 7"/>
          <p:cNvSpPr txBox="1"/>
          <p:nvPr/>
        </p:nvSpPr>
        <p:spPr>
          <a:xfrm>
            <a:off x="594360" y="502920"/>
            <a:ext cx="7315200" cy="256032"/>
          </a:xfrm>
          <a:prstGeom prst="rect">
            <a:avLst/>
          </a:prstGeom>
          <a:noFill/>
        </p:spPr>
        <p:txBody>
          <a:bodyPr wrap="square" lIns="0" tIns="0" rIns="0" bIns="0">
            <a:spAutoFit/>
          </a:bodyPr>
          <a:lstStyle/>
          <a:p>
            <a:pPr>
              <a:spcAft>
                <a:spcPts val="900"/>
              </a:spcAft>
            </a:pPr>
            <a:r>
              <a:rPr sz="1100" b="1">
                <a:solidFill>
                  <a:srgbClr val="39C6D8"/>
                </a:solidFill>
                <a:latin typeface="Carlito"/>
              </a:rPr>
              <a:t>WORKSHOP SETUP</a:t>
            </a:r>
          </a:p>
        </p:txBody>
      </p:sp>
      <p:sp>
        <p:nvSpPr>
          <p:cNvPr id="9" name="TextBox 8"/>
          <p:cNvSpPr txBox="1"/>
          <p:nvPr/>
        </p:nvSpPr>
        <p:spPr>
          <a:xfrm>
            <a:off x="594360" y="868680"/>
            <a:ext cx="10698480" cy="594360"/>
          </a:xfrm>
          <a:prstGeom prst="rect">
            <a:avLst/>
          </a:prstGeom>
          <a:noFill/>
        </p:spPr>
        <p:txBody>
          <a:bodyPr wrap="square" lIns="0" tIns="0" rIns="0" bIns="0">
            <a:spAutoFit/>
          </a:bodyPr>
          <a:lstStyle/>
          <a:p>
            <a:pPr>
              <a:spcAft>
                <a:spcPts val="900"/>
              </a:spcAft>
            </a:pPr>
            <a:r>
              <a:rPr sz="2800" b="1">
                <a:solidFill>
                  <a:srgbClr val="F8FBFF"/>
                </a:solidFill>
                <a:latin typeface="Carlito"/>
              </a:rPr>
              <a:t>The workshop in GitHub Codespaces</a:t>
            </a:r>
          </a:p>
        </p:txBody>
      </p:sp>
      <p:sp>
        <p:nvSpPr>
          <p:cNvPr id="10" name="TextBox 9"/>
          <p:cNvSpPr txBox="1"/>
          <p:nvPr/>
        </p:nvSpPr>
        <p:spPr>
          <a:xfrm>
            <a:off x="612648" y="1527048"/>
            <a:ext cx="10698480" cy="457200"/>
          </a:xfrm>
          <a:prstGeom prst="rect">
            <a:avLst/>
          </a:prstGeom>
          <a:noFill/>
        </p:spPr>
        <p:txBody>
          <a:bodyPr wrap="square" lIns="0" tIns="0" rIns="0" bIns="0">
            <a:spAutoFit/>
          </a:bodyPr>
          <a:lstStyle/>
          <a:p>
            <a:pPr>
              <a:spcAft>
                <a:spcPts val="900"/>
              </a:spcAft>
            </a:pPr>
            <a:r>
              <a:rPr sz="1400" b="0">
                <a:solidFill>
                  <a:srgbClr val="AAB7D8"/>
                </a:solidFill>
                <a:latin typeface="Carlito"/>
              </a:rPr>
              <a:t>Open the repository in your browser, then follow the Codespaces guide.</a:t>
            </a:r>
          </a:p>
        </p:txBody>
      </p:sp>
      <p:sp>
        <p:nvSpPr>
          <p:cNvPr id="11" name="TextBox 10"/>
          <p:cNvSpPr txBox="1"/>
          <p:nvPr/>
        </p:nvSpPr>
        <p:spPr>
          <a:xfrm>
            <a:off x="658368" y="2240280"/>
            <a:ext cx="640080" cy="548640"/>
          </a:xfrm>
          <a:prstGeom prst="rect">
            <a:avLst/>
          </a:prstGeom>
          <a:noFill/>
        </p:spPr>
        <p:txBody>
          <a:bodyPr wrap="square" lIns="0" tIns="0" rIns="0" bIns="0">
            <a:spAutoFit/>
          </a:bodyPr>
          <a:lstStyle/>
          <a:p>
            <a:pPr>
              <a:spcAft>
                <a:spcPts val="900"/>
              </a:spcAft>
            </a:pPr>
            <a:r>
              <a:rPr sz="2400" b="1">
                <a:solidFill>
                  <a:srgbClr val="39C6D8"/>
                </a:solidFill>
                <a:latin typeface="Carlito"/>
              </a:rPr>
              <a:t>01</a:t>
            </a:r>
          </a:p>
        </p:txBody>
      </p:sp>
      <p:sp>
        <p:nvSpPr>
          <p:cNvPr id="12" name="TextBox 11"/>
          <p:cNvSpPr txBox="1"/>
          <p:nvPr/>
        </p:nvSpPr>
        <p:spPr>
          <a:xfrm>
            <a:off x="1417320" y="2240280"/>
            <a:ext cx="4572000" cy="365760"/>
          </a:xfrm>
          <a:prstGeom prst="rect">
            <a:avLst/>
          </a:prstGeom>
          <a:noFill/>
        </p:spPr>
        <p:txBody>
          <a:bodyPr wrap="square" lIns="0" tIns="0" rIns="0" bIns="0">
            <a:spAutoFit/>
          </a:bodyPr>
          <a:lstStyle/>
          <a:p>
            <a:pPr>
              <a:spcAft>
                <a:spcPts val="900"/>
              </a:spcAft>
            </a:pPr>
            <a:r>
              <a:rPr sz="2100" b="1">
                <a:solidFill>
                  <a:srgbClr val="F8FBFF"/>
                </a:solidFill>
                <a:latin typeface="Carlito"/>
              </a:rPr>
              <a:t>Create your codespace</a:t>
            </a:r>
          </a:p>
        </p:txBody>
      </p:sp>
      <p:sp>
        <p:nvSpPr>
          <p:cNvPr id="13" name="TextBox 12"/>
          <p:cNvSpPr txBox="1"/>
          <p:nvPr/>
        </p:nvSpPr>
        <p:spPr>
          <a:xfrm>
            <a:off x="1417320" y="2761488"/>
            <a:ext cx="4480560" cy="1371600"/>
          </a:xfrm>
          <a:prstGeom prst="rect">
            <a:avLst/>
          </a:prstGeom>
          <a:noFill/>
        </p:spPr>
        <p:txBody>
          <a:bodyPr wrap="square" lIns="0" tIns="0" rIns="0" bIns="0">
            <a:spAutoFit/>
          </a:bodyPr>
          <a:lstStyle/>
          <a:p>
            <a:pPr>
              <a:spcAft>
                <a:spcPts val="900"/>
              </a:spcAft>
            </a:pPr>
            <a:r>
              <a:rPr sz="1700" b="0">
                <a:solidFill>
                  <a:srgbClr val="AAB7D8"/>
                </a:solidFill>
                <a:latin typeface="Carlito"/>
              </a:rPr>
              <a:t>Sign in to GitHub and open the workshop repo.</a:t>
            </a:r>
          </a:p>
          <a:p>
            <a:pPr>
              <a:spcAft>
                <a:spcPts val="900"/>
              </a:spcAft>
            </a:pPr>
            <a:r>
              <a:rPr sz="1700" b="0">
                <a:solidFill>
                  <a:srgbClr val="AAB7D8"/>
                </a:solidFill>
                <a:latin typeface="Carlito"/>
              </a:rPr>
              <a:t>Select Code, then Codespaces, then Create codespace on main.</a:t>
            </a:r>
          </a:p>
        </p:txBody>
      </p:sp>
      <p:sp>
        <p:nvSpPr>
          <p:cNvPr id="14" name="TextBox 13"/>
          <p:cNvSpPr txBox="1"/>
          <p:nvPr/>
        </p:nvSpPr>
        <p:spPr>
          <a:xfrm>
            <a:off x="6400800" y="2240280"/>
            <a:ext cx="640080" cy="548640"/>
          </a:xfrm>
          <a:prstGeom prst="rect">
            <a:avLst/>
          </a:prstGeom>
          <a:noFill/>
        </p:spPr>
        <p:txBody>
          <a:bodyPr wrap="square" lIns="0" tIns="0" rIns="0" bIns="0">
            <a:spAutoFit/>
          </a:bodyPr>
          <a:lstStyle/>
          <a:p>
            <a:pPr>
              <a:spcAft>
                <a:spcPts val="900"/>
              </a:spcAft>
            </a:pPr>
            <a:r>
              <a:rPr sz="2400" b="1">
                <a:solidFill>
                  <a:srgbClr val="39C6D8"/>
                </a:solidFill>
                <a:latin typeface="Carlito"/>
              </a:rPr>
              <a:t>02</a:t>
            </a:r>
          </a:p>
        </p:txBody>
      </p:sp>
      <p:sp>
        <p:nvSpPr>
          <p:cNvPr id="15" name="TextBox 14"/>
          <p:cNvSpPr txBox="1"/>
          <p:nvPr/>
        </p:nvSpPr>
        <p:spPr>
          <a:xfrm>
            <a:off x="7159752" y="2240280"/>
            <a:ext cx="4389120" cy="365760"/>
          </a:xfrm>
          <a:prstGeom prst="rect">
            <a:avLst/>
          </a:prstGeom>
          <a:noFill/>
        </p:spPr>
        <p:txBody>
          <a:bodyPr wrap="square" lIns="0" tIns="0" rIns="0" bIns="0">
            <a:spAutoFit/>
          </a:bodyPr>
          <a:lstStyle/>
          <a:p>
            <a:pPr>
              <a:spcAft>
                <a:spcPts val="900"/>
              </a:spcAft>
            </a:pPr>
            <a:r>
              <a:rPr sz="2100" b="1">
                <a:solidFill>
                  <a:srgbClr val="F8FBFF"/>
                </a:solidFill>
                <a:latin typeface="Carlito"/>
              </a:rPr>
              <a:t>Follow the Codespaces guide</a:t>
            </a:r>
          </a:p>
        </p:txBody>
      </p:sp>
      <p:sp>
        <p:nvSpPr>
          <p:cNvPr id="16" name="TextBox 15"/>
          <p:cNvSpPr txBox="1"/>
          <p:nvPr/>
        </p:nvSpPr>
        <p:spPr>
          <a:xfrm>
            <a:off x="7159752" y="2761488"/>
            <a:ext cx="4343400" cy="1371600"/>
          </a:xfrm>
          <a:prstGeom prst="rect">
            <a:avLst/>
          </a:prstGeom>
          <a:noFill/>
        </p:spPr>
        <p:txBody>
          <a:bodyPr wrap="square" lIns="0" tIns="0" rIns="0" bIns="0">
            <a:spAutoFit/>
          </a:bodyPr>
          <a:lstStyle/>
          <a:p>
            <a:pPr>
              <a:spcAft>
                <a:spcPts val="900"/>
              </a:spcAft>
            </a:pPr>
            <a:r>
              <a:rPr sz="1700" b="0">
                <a:solidFill>
                  <a:srgbClr val="AAB7D8"/>
                </a:solidFill>
                <a:latin typeface="Carlito"/>
              </a:rPr>
              <a:t>Wait for the editor to open.</a:t>
            </a:r>
          </a:p>
          <a:p>
            <a:pPr>
              <a:spcAft>
                <a:spcPts val="900"/>
              </a:spcAft>
            </a:pPr>
            <a:r>
              <a:rPr sz="1700" b="0">
                <a:solidFill>
                  <a:srgbClr val="AAB7D8"/>
                </a:solidFill>
                <a:latin typeface="Carlito"/>
              </a:rPr>
              <a:t>Open the guide below and follow its setup and run instructions in the terminal.</a:t>
            </a:r>
          </a:p>
        </p:txBody>
      </p:sp>
      <p:sp>
        <p:nvSpPr>
          <p:cNvPr id="17" name="TextBox 16"/>
          <p:cNvSpPr txBox="1"/>
          <p:nvPr/>
        </p:nvSpPr>
        <p:spPr>
          <a:xfrm>
            <a:off x="658368" y="4498848"/>
            <a:ext cx="10789920" cy="320040"/>
          </a:xfrm>
          <a:prstGeom prst="rect">
            <a:avLst/>
          </a:prstGeom>
          <a:noFill/>
        </p:spPr>
        <p:txBody>
          <a:bodyPr wrap="square" lIns="0" tIns="0" rIns="0" bIns="0">
            <a:spAutoFit/>
          </a:bodyPr>
          <a:lstStyle/>
          <a:p>
            <a:pPr>
              <a:spcAft>
                <a:spcPts val="900"/>
              </a:spcAft>
            </a:pPr>
            <a:r>
              <a:rPr sz="1800" b="1">
                <a:solidFill>
                  <a:srgbClr val="39C6D8"/>
                </a:solidFill>
                <a:latin typeface="Carlito"/>
              </a:rPr>
              <a:t>Codespaces guide in the repository</a:t>
            </a:r>
          </a:p>
        </p:txBody>
      </p:sp>
      <p:sp>
        <p:nvSpPr>
          <p:cNvPr id="18" name="TextBox 17"/>
          <p:cNvSpPr txBox="1"/>
          <p:nvPr/>
        </p:nvSpPr>
        <p:spPr>
          <a:xfrm>
            <a:off x="658368" y="5001768"/>
            <a:ext cx="10789920" cy="502920"/>
          </a:xfrm>
          <a:prstGeom prst="rect">
            <a:avLst/>
          </a:prstGeom>
          <a:noFill/>
        </p:spPr>
        <p:txBody>
          <a:bodyPr wrap="square" lIns="0" tIns="0" rIns="0" bIns="0">
            <a:spAutoFit/>
          </a:bodyPr>
          <a:lstStyle/>
          <a:p>
            <a:pPr>
              <a:spcAft>
                <a:spcPts val="900"/>
              </a:spcAft>
            </a:pPr>
            <a:r>
              <a:rPr sz="2400" b="1">
                <a:solidFill>
                  <a:srgbClr val="F8FBFF"/>
                </a:solidFill>
                <a:latin typeface="Courier New"/>
              </a:rPr>
              <a:t>docs/codespaces/README.md</a:t>
            </a:r>
          </a:p>
        </p:txBody>
      </p:sp>
      <p:sp>
        <p:nvSpPr>
          <p:cNvPr id="19" name="TextBox 18"/>
          <p:cNvSpPr txBox="1"/>
          <p:nvPr/>
        </p:nvSpPr>
        <p:spPr>
          <a:xfrm>
            <a:off x="658368" y="5705856"/>
            <a:ext cx="10789920" cy="369332"/>
          </a:xfrm>
          <a:prstGeom prst="rect">
            <a:avLst/>
          </a:prstGeom>
          <a:noFill/>
        </p:spPr>
        <p:txBody>
          <a:bodyPr wrap="square" lIns="0" tIns="0" rIns="0" bIns="0">
            <a:spAutoFit/>
          </a:bodyPr>
          <a:lstStyle/>
          <a:p>
            <a:pPr>
              <a:spcAft>
                <a:spcPts val="900"/>
              </a:spcAft>
            </a:pPr>
            <a:r>
              <a:rPr sz="2400" b="0" dirty="0">
                <a:solidFill>
                  <a:schemeClr val="bg1"/>
                </a:solidFill>
                <a:latin typeface="Carlito"/>
              </a:rPr>
              <a:t>github.com/</a:t>
            </a:r>
            <a:r>
              <a:rPr sz="2400" b="0" dirty="0" err="1">
                <a:solidFill>
                  <a:schemeClr val="bg1"/>
                </a:solidFill>
                <a:latin typeface="Carlito"/>
              </a:rPr>
              <a:t>GlobalAICommunity</a:t>
            </a:r>
            <a:r>
              <a:rPr sz="2400" b="0" dirty="0">
                <a:solidFill>
                  <a:schemeClr val="bg1"/>
                </a:solidFill>
                <a:latin typeface="Carlito"/>
              </a:rPr>
              <a:t>/</a:t>
            </a:r>
            <a:r>
              <a:rPr sz="2400" b="0" dirty="0" err="1">
                <a:solidFill>
                  <a:schemeClr val="bg1"/>
                </a:solidFill>
                <a:latin typeface="Carlito"/>
              </a:rPr>
              <a:t>mcp</a:t>
            </a:r>
            <a:r>
              <a:rPr sz="2400" b="0" dirty="0">
                <a:solidFill>
                  <a:schemeClr val="bg1"/>
                </a:solidFill>
                <a:latin typeface="Carlito"/>
              </a:rPr>
              <a:t>-</a:t>
            </a:r>
            <a:r>
              <a:rPr sz="2400" b="0" dirty="0" err="1">
                <a:solidFill>
                  <a:schemeClr val="bg1"/>
                </a:solidFill>
                <a:latin typeface="Carlito"/>
              </a:rPr>
              <a:t>fl</a:t>
            </a:r>
            <a:r>
              <a:rPr sz="2400" b="0" dirty="0">
                <a:solidFill>
                  <a:schemeClr val="bg1"/>
                </a:solidFill>
                <a:latin typeface="Carlito"/>
              </a:rPr>
              <a:t>-workshop</a:t>
            </a:r>
          </a:p>
        </p:txBody>
      </p:sp>
      <p:sp>
        <p:nvSpPr>
          <p:cNvPr id="20" name="TextBox 19"/>
          <p:cNvSpPr txBox="1"/>
          <p:nvPr/>
        </p:nvSpPr>
        <p:spPr>
          <a:xfrm>
            <a:off x="658368" y="6190488"/>
            <a:ext cx="10789920" cy="228600"/>
          </a:xfrm>
          <a:prstGeom prst="rect">
            <a:avLst/>
          </a:prstGeom>
          <a:noFill/>
        </p:spPr>
        <p:txBody>
          <a:bodyPr wrap="square" lIns="0" tIns="0" rIns="0" bIns="0">
            <a:spAutoFit/>
          </a:bodyPr>
          <a:lstStyle/>
          <a:p>
            <a:pPr>
              <a:spcAft>
                <a:spcPts val="900"/>
              </a:spcAft>
            </a:pPr>
            <a:r>
              <a:rPr sz="1200" b="0">
                <a:solidFill>
                  <a:srgbClr val="AAB7D8"/>
                </a:solidFill>
                <a:latin typeface="Carlito"/>
              </a:rPr>
              <a:t>Use the Codespaces guide for this route rather than the Windows VM commands.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9966960" y="-1143000"/>
            <a:ext cx="3383280" cy="3383280"/>
          </a:xfrm>
          <a:prstGeom prst="ellipse">
            <a:avLst/>
          </a:prstGeom>
          <a:solidFill>
            <a:srgbClr val="1E224E">
              <a:alpha val="0"/>
            </a:srgbClr>
          </a:solidFill>
          <a:ln w="16510">
            <a:solidFill>
              <a:srgbClr val="39C6D8">
                <a:alpha val="38000"/>
              </a:srgbClr>
            </a:solidFill>
            <a:prstDash val="solid"/>
          </a:ln>
        </p:spPr>
        <p:txBody>
          <a:bodyPr/>
          <a:lstStyle/>
          <a:p>
            <a:endParaRPr lang="en-US"/>
          </a:p>
        </p:txBody>
      </p:sp>
      <p:sp>
        <p:nvSpPr>
          <p:cNvPr id="3" name="Shape 1"/>
          <p:cNvSpPr/>
          <p:nvPr/>
        </p:nvSpPr>
        <p:spPr>
          <a:xfrm>
            <a:off x="10469880" y="-658368"/>
            <a:ext cx="2423160" cy="2423160"/>
          </a:xfrm>
          <a:prstGeom prst="ellipse">
            <a:avLst/>
          </a:prstGeom>
          <a:solidFill>
            <a:srgbClr val="1E224E">
              <a:alpha val="0"/>
            </a:srgbClr>
          </a:solidFill>
          <a:ln w="12700">
            <a:solidFill>
              <a:srgbClr val="2F78D8">
                <a:alpha val="42000"/>
              </a:srgbClr>
            </a:solidFill>
            <a:prstDash val="solid"/>
          </a:ln>
        </p:spPr>
        <p:txBody>
          <a:bodyPr/>
          <a:lstStyle/>
          <a:p>
            <a:endParaRPr lang="en-US"/>
          </a:p>
        </p:txBody>
      </p:sp>
      <p:sp>
        <p:nvSpPr>
          <p:cNvPr id="4" name="Shape 2"/>
          <p:cNvSpPr/>
          <p:nvPr/>
        </p:nvSpPr>
        <p:spPr>
          <a:xfrm>
            <a:off x="11109960" y="594360"/>
            <a:ext cx="73152" cy="73152"/>
          </a:xfrm>
          <a:prstGeom prst="ellipse">
            <a:avLst/>
          </a:prstGeom>
          <a:solidFill>
            <a:srgbClr val="68E1E8"/>
          </a:solidFill>
          <a:ln w="12700">
            <a:solidFill>
              <a:srgbClr val="68E1E8">
                <a:alpha val="0"/>
              </a:srgbClr>
            </a:solidFill>
            <a:prstDash val="solid"/>
          </a:ln>
        </p:spPr>
        <p:txBody>
          <a:bodyPr/>
          <a:lstStyle/>
          <a:p>
            <a:endParaRPr lang="en-US"/>
          </a:p>
        </p:txBody>
      </p:sp>
      <p:sp>
        <p:nvSpPr>
          <p:cNvPr id="5" name="Shape 3"/>
          <p:cNvSpPr/>
          <p:nvPr/>
        </p:nvSpPr>
        <p:spPr>
          <a:xfrm>
            <a:off x="11384280" y="850392"/>
            <a:ext cx="45720" cy="45720"/>
          </a:xfrm>
          <a:prstGeom prst="ellipse">
            <a:avLst/>
          </a:prstGeom>
          <a:solidFill>
            <a:srgbClr val="39C6D8"/>
          </a:solidFill>
          <a:ln w="12700">
            <a:solidFill>
              <a:srgbClr val="39C6D8">
                <a:alpha val="0"/>
              </a:srgbClr>
            </a:solidFill>
            <a:prstDash val="solid"/>
          </a:ln>
        </p:spPr>
        <p:txBody>
          <a:bodyPr/>
          <a:lstStyle/>
          <a:p>
            <a:endParaRPr lang="en-US"/>
          </a:p>
        </p:txBody>
      </p:sp>
      <p:sp>
        <p:nvSpPr>
          <p:cNvPr id="6" name="Shape 4"/>
          <p:cNvSpPr/>
          <p:nvPr/>
        </p:nvSpPr>
        <p:spPr>
          <a:xfrm>
            <a:off x="11631168" y="1106424"/>
            <a:ext cx="36576" cy="36576"/>
          </a:xfrm>
          <a:prstGeom prst="ellipse">
            <a:avLst/>
          </a:prstGeom>
          <a:solidFill>
            <a:srgbClr val="2F78D8"/>
          </a:solidFill>
          <a:ln w="12700">
            <a:solidFill>
              <a:srgbClr val="2F78D8">
                <a:alpha val="0"/>
              </a:srgbClr>
            </a:solidFill>
            <a:prstDash val="solid"/>
          </a:ln>
        </p:spPr>
        <p:txBody>
          <a:bodyPr/>
          <a:lstStyle/>
          <a:p>
            <a:endParaRPr lang="en-US"/>
          </a:p>
        </p:txBody>
      </p:sp>
      <p:sp>
        <p:nvSpPr>
          <p:cNvPr id="7" name="Shape 5"/>
          <p:cNvSpPr/>
          <p:nvPr/>
        </p:nvSpPr>
        <p:spPr>
          <a:xfrm>
            <a:off x="-1371600" y="5166360"/>
            <a:ext cx="2926080" cy="2926080"/>
          </a:xfrm>
          <a:prstGeom prst="ellipse">
            <a:avLst/>
          </a:prstGeom>
          <a:solidFill>
            <a:srgbClr val="1E224E">
              <a:alpha val="0"/>
            </a:srgbClr>
          </a:solidFill>
          <a:ln w="12700">
            <a:solidFill>
              <a:srgbClr val="39C6D8">
                <a:alpha val="26000"/>
              </a:srgbClr>
            </a:solidFill>
            <a:prstDash val="solid"/>
          </a:ln>
        </p:spPr>
        <p:txBody>
          <a:bodyPr/>
          <a:lstStyle/>
          <a:p>
            <a:endParaRPr lang="en-US"/>
          </a:p>
        </p:txBody>
      </p:sp>
      <p:pic>
        <p:nvPicPr>
          <p:cNvPr id="8" name="Image 0" descr="/mnt/data/mcp_globe_dark.png"/>
          <p:cNvPicPr>
            <a:picLocks noChangeAspect="1"/>
          </p:cNvPicPr>
          <p:nvPr/>
        </p:nvPicPr>
        <p:blipFill>
          <a:blip r:embed="rId3"/>
          <a:stretch>
            <a:fillRect/>
          </a:stretch>
        </p:blipFill>
        <p:spPr>
          <a:xfrm>
            <a:off x="502920" y="329184"/>
            <a:ext cx="554035" cy="478140"/>
          </a:xfrm>
          <a:prstGeom prst="rect">
            <a:avLst/>
          </a:prstGeom>
        </p:spPr>
      </p:pic>
      <p:sp>
        <p:nvSpPr>
          <p:cNvPr id="9" name="Text 6"/>
          <p:cNvSpPr/>
          <p:nvPr/>
        </p:nvSpPr>
        <p:spPr>
          <a:xfrm>
            <a:off x="1125261" y="374721"/>
            <a:ext cx="1783537" cy="182148"/>
          </a:xfrm>
          <a:prstGeom prst="rect">
            <a:avLst/>
          </a:prstGeom>
          <a:noFill/>
          <a:ln/>
        </p:spPr>
        <p:txBody>
          <a:bodyPr wrap="square" lIns="0" tIns="0" rIns="0" bIns="0" rtlCol="0" anchor="ctr"/>
          <a:lstStyle/>
          <a:p>
            <a:pPr marL="0" indent="0">
              <a:buNone/>
            </a:pPr>
            <a:r>
              <a:rPr lang="en-US" sz="996" b="1" dirty="0">
                <a:solidFill>
                  <a:srgbClr val="F8FBFF"/>
                </a:solidFill>
                <a:latin typeface="Carlito" pitchFamily="34" charset="0"/>
                <a:ea typeface="Carlito" pitchFamily="34" charset="-122"/>
                <a:cs typeface="Carlito" pitchFamily="34" charset="-120"/>
              </a:rPr>
              <a:t>MCP COMMUNITY</a:t>
            </a:r>
            <a:endParaRPr lang="en-US" sz="996" dirty="0"/>
          </a:p>
        </p:txBody>
      </p:sp>
      <p:sp>
        <p:nvSpPr>
          <p:cNvPr id="10" name="Text 7"/>
          <p:cNvSpPr/>
          <p:nvPr/>
        </p:nvSpPr>
        <p:spPr>
          <a:xfrm>
            <a:off x="1125261" y="549280"/>
            <a:ext cx="1176376" cy="189738"/>
          </a:xfrm>
          <a:prstGeom prst="rect">
            <a:avLst/>
          </a:prstGeom>
          <a:noFill/>
          <a:ln/>
        </p:spPr>
        <p:txBody>
          <a:bodyPr wrap="square" lIns="0" tIns="0" rIns="0" bIns="0" rtlCol="0" anchor="ctr"/>
          <a:lstStyle/>
          <a:p>
            <a:pPr marL="0" indent="0">
              <a:buNone/>
            </a:pPr>
            <a:r>
              <a:rPr lang="en-US" sz="996" b="1" dirty="0">
                <a:solidFill>
                  <a:srgbClr val="68E1E8"/>
                </a:solidFill>
                <a:latin typeface="Carlito" pitchFamily="34" charset="0"/>
                <a:ea typeface="Carlito" pitchFamily="34" charset="-122"/>
                <a:cs typeface="Carlito" pitchFamily="34" charset="-120"/>
              </a:rPr>
              <a:t>CONNECT</a:t>
            </a:r>
            <a:endParaRPr lang="en-US" sz="996" dirty="0"/>
          </a:p>
        </p:txBody>
      </p:sp>
      <p:sp>
        <p:nvSpPr>
          <p:cNvPr id="11" name="Text 8"/>
          <p:cNvSpPr/>
          <p:nvPr/>
        </p:nvSpPr>
        <p:spPr>
          <a:xfrm>
            <a:off x="2278868" y="564459"/>
            <a:ext cx="819668" cy="121432"/>
          </a:xfrm>
          <a:prstGeom prst="rect">
            <a:avLst/>
          </a:prstGeom>
          <a:noFill/>
          <a:ln/>
        </p:spPr>
        <p:txBody>
          <a:bodyPr wrap="square" lIns="0" tIns="0" rIns="0" bIns="0" rtlCol="0" anchor="ctr"/>
          <a:lstStyle/>
          <a:p>
            <a:pPr marL="0" indent="0">
              <a:buNone/>
            </a:pPr>
            <a:r>
              <a:rPr lang="en-US" sz="598" b="1" kern="0" spc="150" dirty="0">
                <a:solidFill>
                  <a:srgbClr val="AAB7D8"/>
                </a:solidFill>
                <a:latin typeface="Carlito" pitchFamily="34" charset="0"/>
                <a:ea typeface="Carlito" pitchFamily="34" charset="-122"/>
                <a:cs typeface="Carlito" pitchFamily="34" charset="-120"/>
              </a:rPr>
              <a:t>BENGALURU</a:t>
            </a:r>
            <a:endParaRPr lang="en-US" sz="598" dirty="0"/>
          </a:p>
        </p:txBody>
      </p:sp>
      <p:sp>
        <p:nvSpPr>
          <p:cNvPr id="12" name="Text 9"/>
          <p:cNvSpPr/>
          <p:nvPr/>
        </p:nvSpPr>
        <p:spPr>
          <a:xfrm>
            <a:off x="685800" y="914400"/>
            <a:ext cx="3108960" cy="256032"/>
          </a:xfrm>
          <a:prstGeom prst="rect">
            <a:avLst/>
          </a:prstGeom>
          <a:noFill/>
          <a:ln/>
        </p:spPr>
        <p:txBody>
          <a:bodyPr wrap="square" lIns="0" tIns="0" rIns="0" bIns="0" rtlCol="0" anchor="ctr"/>
          <a:lstStyle/>
          <a:p>
            <a:pPr marL="0" indent="0">
              <a:buNone/>
            </a:pPr>
            <a:r>
              <a:rPr lang="en-US" sz="1200" b="1" kern="0" spc="220">
                <a:solidFill>
                  <a:srgbClr val="68E1E8"/>
                </a:solidFill>
                <a:latin typeface="Carlito" pitchFamily="34" charset="0"/>
                <a:ea typeface="Carlito" pitchFamily="34" charset="-122"/>
                <a:cs typeface="Carlito" pitchFamily="34" charset="-120"/>
              </a:rPr>
              <a:t>KEY TAKEAWAY</a:t>
            </a:r>
            <a:endParaRPr lang="en-US" sz="1200" dirty="0"/>
          </a:p>
        </p:txBody>
      </p:sp>
      <p:sp>
        <p:nvSpPr>
          <p:cNvPr id="13" name="Text 10"/>
          <p:cNvSpPr/>
          <p:nvPr/>
        </p:nvSpPr>
        <p:spPr>
          <a:xfrm>
            <a:off x="676656" y="1572768"/>
            <a:ext cx="8092440" cy="1600200"/>
          </a:xfrm>
          <a:prstGeom prst="rect">
            <a:avLst/>
          </a:prstGeom>
          <a:noFill/>
          <a:ln/>
        </p:spPr>
        <p:txBody>
          <a:bodyPr wrap="square" lIns="0" tIns="0" rIns="0" bIns="0" rtlCol="0" anchor="ctr">
            <a:normAutofit/>
          </a:bodyPr>
          <a:lstStyle/>
          <a:p>
            <a:pPr marL="0" indent="0">
              <a:buNone/>
            </a:pPr>
            <a:r>
              <a:rPr lang="en-GB" sz="3900" b="1">
                <a:solidFill>
                  <a:srgbClr val="F8FBFF"/>
                </a:solidFill>
                <a:latin typeface="Carlito" pitchFamily="34" charset="0"/>
                <a:ea typeface="Carlito" pitchFamily="34" charset="-122"/>
                <a:cs typeface="Carlito" pitchFamily="34" charset="-120"/>
              </a:rPr>
              <a:t>Use the model for decisions.</a:t>
            </a:r>
          </a:p>
          <a:p>
            <a:pPr marL="0" indent="0">
              <a:buNone/>
            </a:pPr>
            <a:r>
              <a:rPr lang="en-GB" sz="3900" b="1">
                <a:solidFill>
                  <a:srgbClr val="F8FBFF"/>
                </a:solidFill>
                <a:latin typeface="Carlito" pitchFamily="34" charset="0"/>
                <a:ea typeface="Carlito" pitchFamily="34" charset="-122"/>
                <a:cs typeface="Carlito" pitchFamily="34" charset="-120"/>
              </a:rPr>
              <a:t>Use typed tool data for facts.</a:t>
            </a:r>
            <a:endParaRPr lang="en-US" sz="3900" dirty="0"/>
          </a:p>
        </p:txBody>
      </p:sp>
      <p:sp>
        <p:nvSpPr>
          <p:cNvPr id="14" name="Shape 11"/>
          <p:cNvSpPr/>
          <p:nvPr/>
        </p:nvSpPr>
        <p:spPr>
          <a:xfrm>
            <a:off x="713232" y="3685032"/>
            <a:ext cx="3794760" cy="0"/>
          </a:xfrm>
          <a:prstGeom prst="line">
            <a:avLst/>
          </a:prstGeom>
          <a:noFill/>
          <a:ln w="38100">
            <a:solidFill>
              <a:srgbClr val="39C6D8"/>
            </a:solidFill>
            <a:prstDash val="solid"/>
          </a:ln>
        </p:spPr>
        <p:txBody>
          <a:bodyPr/>
          <a:lstStyle/>
          <a:p>
            <a:endParaRPr lang="en-US"/>
          </a:p>
        </p:txBody>
      </p:sp>
      <p:sp>
        <p:nvSpPr>
          <p:cNvPr id="15" name="Text 12"/>
          <p:cNvSpPr/>
          <p:nvPr/>
        </p:nvSpPr>
        <p:spPr>
          <a:xfrm>
            <a:off x="713232" y="4096512"/>
            <a:ext cx="6583680" cy="594360"/>
          </a:xfrm>
          <a:prstGeom prst="rect">
            <a:avLst/>
          </a:prstGeom>
          <a:noFill/>
          <a:ln/>
        </p:spPr>
        <p:txBody>
          <a:bodyPr wrap="square" lIns="0" tIns="0" rIns="0" bIns="0" rtlCol="0" anchor="ctr"/>
          <a:lstStyle/>
          <a:p>
            <a:pPr marL="0" indent="0">
              <a:buNone/>
            </a:pPr>
            <a:r>
              <a:rPr lang="en-GB" sz="1700">
                <a:solidFill>
                  <a:srgbClr val="AAB7D8"/>
                </a:solidFill>
                <a:latin typeface="Carlito" pitchFamily="34" charset="0"/>
                <a:ea typeface="Carlito" pitchFamily="34" charset="-122"/>
                <a:cs typeface="Carlito" pitchFamily="34" charset="-120"/>
              </a:rPr>
              <a:t>Small local models stay responsive when the host keeps the task bounded.</a:t>
            </a:r>
            <a:endParaRPr lang="en-US" sz="1700" dirty="0"/>
          </a:p>
        </p:txBody>
      </p:sp>
      <p:sp>
        <p:nvSpPr>
          <p:cNvPr id="16" name="Text 13"/>
          <p:cNvSpPr/>
          <p:nvPr/>
        </p:nvSpPr>
        <p:spPr>
          <a:xfrm>
            <a:off x="9326880" y="1280160"/>
            <a:ext cx="1188720" cy="1188720"/>
          </a:xfrm>
          <a:prstGeom prst="rect">
            <a:avLst/>
          </a:prstGeom>
          <a:noFill/>
          <a:ln/>
        </p:spPr>
        <p:txBody>
          <a:bodyPr wrap="square" lIns="0" tIns="0" rIns="0" bIns="0" rtlCol="0" anchor="ctr"/>
          <a:lstStyle/>
          <a:p>
            <a:pPr marL="0" indent="0">
              <a:buNone/>
            </a:pPr>
            <a:r>
              <a:rPr lang="en-US" sz="7800" dirty="0">
                <a:solidFill>
                  <a:srgbClr val="39C6D8">
                    <a:alpha val="70000"/>
                  </a:srgbClr>
                </a:solidFill>
                <a:latin typeface="Georgia" pitchFamily="34" charset="0"/>
                <a:ea typeface="Georgia" pitchFamily="34" charset="-122"/>
                <a:cs typeface="Georgia" pitchFamily="34" charset="-120"/>
              </a:rPr>
              <a:t>“</a:t>
            </a:r>
            <a:endParaRPr lang="en-US" sz="7800" dirty="0"/>
          </a:p>
        </p:txBody>
      </p:sp>
      <p:pic>
        <p:nvPicPr>
          <p:cNvPr id="17" name="Image 1" descr="/mnt/data/bengaluru_skyline_in_cyan_line_art.png"/>
          <p:cNvPicPr>
            <a:picLocks noChangeAspect="1"/>
          </p:cNvPicPr>
          <p:nvPr/>
        </p:nvPicPr>
        <p:blipFill>
          <a:blip r:embed="rId4">
            <a:alphaModFix amt="42000"/>
          </a:blip>
          <a:stretch>
            <a:fillRect/>
          </a:stretch>
        </p:blipFill>
        <p:spPr>
          <a:xfrm>
            <a:off x="7592862" y="5230368"/>
            <a:ext cx="3422315" cy="1143000"/>
          </a:xfrm>
          <a:prstGeom prst="rect">
            <a:avLst/>
          </a:prstGeom>
        </p:spPr>
      </p:pic>
      <p:sp>
        <p:nvSpPr>
          <p:cNvPr id="25" name="Slide Number Placeholder 0"/>
          <p:cNvSpPr>
            <a:spLocks noGrp="1"/>
          </p:cNvSpPr>
          <p:nvPr>
            <p:ph type="sldNum" sz="quarter" idx="4294967295"/>
          </p:nvPr>
        </p:nvSpPr>
        <p:spPr>
          <a:xfrm>
            <a:off x="11777472" y="6455664"/>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AAB7D8"/>
                </a:solidFill>
                <a:latin typeface="Carlito"/>
                <a:ea typeface="Carlito"/>
                <a:cs typeface="Carlito"/>
              </a:defRPr>
            </a:lvl1pPr>
          </a:lstStyle>
          <a:p>
            <a:pPr algn="l"/>
            <a:r>
              <a:rPr lang="en-US" b="0"/>
              <a:t>6</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9966960" y="-1143000"/>
            <a:ext cx="3383280" cy="3383280"/>
          </a:xfrm>
          <a:prstGeom prst="ellipse">
            <a:avLst/>
          </a:prstGeom>
          <a:solidFill>
            <a:srgbClr val="1E224E">
              <a:alpha val="0"/>
            </a:srgbClr>
          </a:solidFill>
          <a:ln w="16510">
            <a:solidFill>
              <a:srgbClr val="39C6D8">
                <a:alpha val="38000"/>
              </a:srgbClr>
            </a:solidFill>
            <a:prstDash val="solid"/>
          </a:ln>
        </p:spPr>
        <p:txBody>
          <a:bodyPr/>
          <a:lstStyle/>
          <a:p>
            <a:endParaRPr lang="en-US"/>
          </a:p>
        </p:txBody>
      </p:sp>
      <p:sp>
        <p:nvSpPr>
          <p:cNvPr id="3" name="Shape 1"/>
          <p:cNvSpPr/>
          <p:nvPr/>
        </p:nvSpPr>
        <p:spPr>
          <a:xfrm>
            <a:off x="10469880" y="-658368"/>
            <a:ext cx="2423160" cy="2423160"/>
          </a:xfrm>
          <a:prstGeom prst="ellipse">
            <a:avLst/>
          </a:prstGeom>
          <a:solidFill>
            <a:srgbClr val="1E224E">
              <a:alpha val="0"/>
            </a:srgbClr>
          </a:solidFill>
          <a:ln w="12700">
            <a:solidFill>
              <a:srgbClr val="2F78D8">
                <a:alpha val="42000"/>
              </a:srgbClr>
            </a:solidFill>
            <a:prstDash val="solid"/>
          </a:ln>
        </p:spPr>
        <p:txBody>
          <a:bodyPr/>
          <a:lstStyle/>
          <a:p>
            <a:endParaRPr lang="en-US"/>
          </a:p>
        </p:txBody>
      </p:sp>
      <p:sp>
        <p:nvSpPr>
          <p:cNvPr id="4" name="Shape 2"/>
          <p:cNvSpPr/>
          <p:nvPr/>
        </p:nvSpPr>
        <p:spPr>
          <a:xfrm>
            <a:off x="11109960" y="594360"/>
            <a:ext cx="73152" cy="73152"/>
          </a:xfrm>
          <a:prstGeom prst="ellipse">
            <a:avLst/>
          </a:prstGeom>
          <a:solidFill>
            <a:srgbClr val="68E1E8"/>
          </a:solidFill>
          <a:ln w="12700">
            <a:solidFill>
              <a:srgbClr val="68E1E8">
                <a:alpha val="0"/>
              </a:srgbClr>
            </a:solidFill>
            <a:prstDash val="solid"/>
          </a:ln>
        </p:spPr>
        <p:txBody>
          <a:bodyPr/>
          <a:lstStyle/>
          <a:p>
            <a:endParaRPr lang="en-US"/>
          </a:p>
        </p:txBody>
      </p:sp>
      <p:sp>
        <p:nvSpPr>
          <p:cNvPr id="5" name="Shape 3"/>
          <p:cNvSpPr/>
          <p:nvPr/>
        </p:nvSpPr>
        <p:spPr>
          <a:xfrm>
            <a:off x="11384280" y="850392"/>
            <a:ext cx="45720" cy="45720"/>
          </a:xfrm>
          <a:prstGeom prst="ellipse">
            <a:avLst/>
          </a:prstGeom>
          <a:solidFill>
            <a:srgbClr val="39C6D8"/>
          </a:solidFill>
          <a:ln w="12700">
            <a:solidFill>
              <a:srgbClr val="39C6D8">
                <a:alpha val="0"/>
              </a:srgbClr>
            </a:solidFill>
            <a:prstDash val="solid"/>
          </a:ln>
        </p:spPr>
        <p:txBody>
          <a:bodyPr/>
          <a:lstStyle/>
          <a:p>
            <a:endParaRPr lang="en-US"/>
          </a:p>
        </p:txBody>
      </p:sp>
      <p:sp>
        <p:nvSpPr>
          <p:cNvPr id="6" name="Shape 4"/>
          <p:cNvSpPr/>
          <p:nvPr/>
        </p:nvSpPr>
        <p:spPr>
          <a:xfrm>
            <a:off x="11631168" y="1106424"/>
            <a:ext cx="36576" cy="36576"/>
          </a:xfrm>
          <a:prstGeom prst="ellipse">
            <a:avLst/>
          </a:prstGeom>
          <a:solidFill>
            <a:srgbClr val="2F78D8"/>
          </a:solidFill>
          <a:ln w="12700">
            <a:solidFill>
              <a:srgbClr val="2F78D8">
                <a:alpha val="0"/>
              </a:srgbClr>
            </a:solidFill>
            <a:prstDash val="solid"/>
          </a:ln>
        </p:spPr>
        <p:txBody>
          <a:bodyPr/>
          <a:lstStyle/>
          <a:p>
            <a:endParaRPr lang="en-US"/>
          </a:p>
        </p:txBody>
      </p:sp>
      <p:sp>
        <p:nvSpPr>
          <p:cNvPr id="7" name="Shape 5"/>
          <p:cNvSpPr/>
          <p:nvPr/>
        </p:nvSpPr>
        <p:spPr>
          <a:xfrm>
            <a:off x="-1371600" y="5166360"/>
            <a:ext cx="2926080" cy="2926080"/>
          </a:xfrm>
          <a:prstGeom prst="ellipse">
            <a:avLst/>
          </a:prstGeom>
          <a:solidFill>
            <a:srgbClr val="1E224E">
              <a:alpha val="0"/>
            </a:srgbClr>
          </a:solidFill>
          <a:ln w="12700">
            <a:solidFill>
              <a:srgbClr val="39C6D8">
                <a:alpha val="26000"/>
              </a:srgbClr>
            </a:solidFill>
            <a:prstDash val="solid"/>
          </a:ln>
        </p:spPr>
        <p:txBody>
          <a:bodyPr/>
          <a:lstStyle/>
          <a:p>
            <a:endParaRPr lang="en-US"/>
          </a:p>
        </p:txBody>
      </p:sp>
      <p:pic>
        <p:nvPicPr>
          <p:cNvPr id="8" name="Image 0" descr="/mnt/data/mcp_globe_dark.png"/>
          <p:cNvPicPr>
            <a:picLocks noChangeAspect="1"/>
          </p:cNvPicPr>
          <p:nvPr/>
        </p:nvPicPr>
        <p:blipFill>
          <a:blip r:embed="rId3"/>
          <a:stretch>
            <a:fillRect/>
          </a:stretch>
        </p:blipFill>
        <p:spPr>
          <a:xfrm>
            <a:off x="685800" y="777240"/>
            <a:ext cx="2011680" cy="1737360"/>
          </a:xfrm>
          <a:prstGeom prst="rect">
            <a:avLst/>
          </a:prstGeom>
        </p:spPr>
      </p:pic>
      <p:sp>
        <p:nvSpPr>
          <p:cNvPr id="9" name="Text 6"/>
          <p:cNvSpPr/>
          <p:nvPr/>
        </p:nvSpPr>
        <p:spPr>
          <a:xfrm>
            <a:off x="3063240" y="960120"/>
            <a:ext cx="5303520" cy="411480"/>
          </a:xfrm>
          <a:prstGeom prst="rect">
            <a:avLst/>
          </a:prstGeom>
          <a:noFill/>
          <a:ln/>
        </p:spPr>
        <p:txBody>
          <a:bodyPr wrap="square" lIns="0" tIns="0" rIns="0" bIns="0" rtlCol="0" anchor="ctr"/>
          <a:lstStyle/>
          <a:p>
            <a:pPr marL="0" indent="0">
              <a:buNone/>
            </a:pPr>
            <a:r>
              <a:rPr lang="en-US" sz="1400" b="1" kern="0" spc="240">
                <a:solidFill>
                  <a:srgbClr val="68E1E8"/>
                </a:solidFill>
                <a:latin typeface="Carlito" pitchFamily="34" charset="0"/>
                <a:ea typeface="Carlito" pitchFamily="34" charset="-122"/>
                <a:cs typeface="Carlito" pitchFamily="34" charset="-120"/>
              </a:rPr>
              <a:t>KEEP BUILDING</a:t>
            </a:r>
            <a:endParaRPr lang="en-US" sz="1400" dirty="0"/>
          </a:p>
        </p:txBody>
      </p:sp>
      <p:sp>
        <p:nvSpPr>
          <p:cNvPr id="10" name="Text 7"/>
          <p:cNvSpPr/>
          <p:nvPr/>
        </p:nvSpPr>
        <p:spPr>
          <a:xfrm>
            <a:off x="3044952" y="1572768"/>
            <a:ext cx="6766560" cy="685800"/>
          </a:xfrm>
          <a:prstGeom prst="rect">
            <a:avLst/>
          </a:prstGeom>
          <a:noFill/>
          <a:ln/>
        </p:spPr>
        <p:txBody>
          <a:bodyPr wrap="square" lIns="0" tIns="0" rIns="0" bIns="0" rtlCol="0" anchor="ctr">
            <a:normAutofit/>
          </a:bodyPr>
          <a:lstStyle/>
          <a:p>
            <a:pPr marL="0" indent="0">
              <a:buNone/>
            </a:pPr>
            <a:r>
              <a:rPr lang="en-US" sz="3400" b="1">
                <a:solidFill>
                  <a:srgbClr val="F8FBFF"/>
                </a:solidFill>
                <a:latin typeface="Carlito" pitchFamily="34" charset="0"/>
                <a:ea typeface="Carlito" pitchFamily="34" charset="-122"/>
                <a:cs typeface="Carlito" pitchFamily="34" charset="-120"/>
              </a:rPr>
              <a:t>Microsoft MCP for Beginners</a:t>
            </a:r>
            <a:endParaRPr lang="en-US" sz="3400" dirty="0"/>
          </a:p>
        </p:txBody>
      </p:sp>
      <p:sp>
        <p:nvSpPr>
          <p:cNvPr id="11" name="Text 8">
            <a:hlinkClick r:id="rId4"/>
          </p:cNvPr>
          <p:cNvSpPr/>
          <p:nvPr/>
        </p:nvSpPr>
        <p:spPr>
          <a:xfrm>
            <a:off x="3063240" y="2395728"/>
            <a:ext cx="6217920" cy="320040"/>
          </a:xfrm>
          <a:prstGeom prst="rect">
            <a:avLst/>
          </a:prstGeom>
          <a:noFill/>
          <a:ln/>
        </p:spPr>
        <p:txBody>
          <a:bodyPr wrap="square" lIns="0" tIns="0" rIns="0" bIns="0" rtlCol="0" anchor="ctr"/>
          <a:lstStyle/>
          <a:p>
            <a:pPr marL="0" indent="0">
              <a:buNone/>
            </a:pPr>
            <a:r>
              <a:rPr lang="en-US" sz="1600">
                <a:solidFill>
                  <a:srgbClr val="AAB7D8"/>
                </a:solidFill>
                <a:latin typeface="Carlito" pitchFamily="34" charset="0"/>
                <a:ea typeface="Carlito" pitchFamily="34" charset="-122"/>
                <a:cs typeface="Carlito" pitchFamily="34" charset="-120"/>
              </a:rPr>
              <a:t>aka.ms/mcp-for-beginners</a:t>
            </a:r>
            <a:endParaRPr lang="en-US" sz="1600" dirty="0"/>
          </a:p>
        </p:txBody>
      </p:sp>
      <p:sp>
        <p:nvSpPr>
          <p:cNvPr id="12" name="Shape 9"/>
          <p:cNvSpPr/>
          <p:nvPr/>
        </p:nvSpPr>
        <p:spPr>
          <a:xfrm>
            <a:off x="3063240" y="2971800"/>
            <a:ext cx="5029200" cy="0"/>
          </a:xfrm>
          <a:prstGeom prst="line">
            <a:avLst/>
          </a:prstGeom>
          <a:noFill/>
          <a:ln w="31750">
            <a:solidFill>
              <a:srgbClr val="39C6D8"/>
            </a:solidFill>
            <a:prstDash val="solid"/>
          </a:ln>
        </p:spPr>
        <p:txBody>
          <a:bodyPr/>
          <a:lstStyle/>
          <a:p>
            <a:endParaRPr lang="en-US"/>
          </a:p>
        </p:txBody>
      </p:sp>
      <p:sp>
        <p:nvSpPr>
          <p:cNvPr id="13" name="Text 10"/>
          <p:cNvSpPr/>
          <p:nvPr/>
        </p:nvSpPr>
        <p:spPr>
          <a:xfrm>
            <a:off x="3063240" y="3337560"/>
            <a:ext cx="5943600" cy="365760"/>
          </a:xfrm>
          <a:prstGeom prst="rect">
            <a:avLst/>
          </a:prstGeom>
          <a:noFill/>
          <a:ln/>
        </p:spPr>
        <p:txBody>
          <a:bodyPr wrap="square" lIns="0" tIns="0" rIns="0" bIns="0" rtlCol="0" anchor="ctr"/>
          <a:lstStyle/>
          <a:p>
            <a:pPr marL="0" indent="0">
              <a:buNone/>
            </a:pPr>
            <a:r>
              <a:rPr lang="en-US" sz="2000" b="1" dirty="0">
                <a:solidFill>
                  <a:srgbClr val="F8FBFF"/>
                </a:solidFill>
                <a:latin typeface="Carlito" pitchFamily="34" charset="0"/>
                <a:ea typeface="Carlito" pitchFamily="34" charset="-122"/>
                <a:cs typeface="Carlito" pitchFamily="34" charset="-120"/>
              </a:rPr>
              <a:t>More MCP resources</a:t>
            </a:r>
            <a:endParaRPr lang="en-US" sz="2000" dirty="0"/>
          </a:p>
        </p:txBody>
      </p:sp>
      <p:sp>
        <p:nvSpPr>
          <p:cNvPr id="14" name="Text 11">
            <a:hlinkClick r:id="rId5"/>
          </p:cNvPr>
          <p:cNvSpPr/>
          <p:nvPr/>
        </p:nvSpPr>
        <p:spPr>
          <a:xfrm>
            <a:off x="3063240" y="3794760"/>
            <a:ext cx="4114800" cy="274320"/>
          </a:xfrm>
          <a:prstGeom prst="rect">
            <a:avLst/>
          </a:prstGeom>
          <a:noFill/>
          <a:ln/>
        </p:spPr>
        <p:txBody>
          <a:bodyPr wrap="square" lIns="0" tIns="0" rIns="0" bIns="0" rtlCol="0" anchor="ctr"/>
          <a:lstStyle/>
          <a:p>
            <a:pPr marL="0" indent="0">
              <a:buNone/>
            </a:pPr>
            <a:r>
              <a:rPr lang="en-US" sz="1300" dirty="0">
                <a:solidFill>
                  <a:srgbClr val="AAB7D8"/>
                </a:solidFill>
                <a:latin typeface="Carlito" pitchFamily="34" charset="0"/>
                <a:ea typeface="Carlito" pitchFamily="34" charset="-122"/>
                <a:cs typeface="Carlito" pitchFamily="34" charset="-120"/>
              </a:rPr>
              <a:t>modelcontextprotocol.io</a:t>
            </a:r>
            <a:endParaRPr lang="en-US" sz="1300" dirty="0"/>
          </a:p>
        </p:txBody>
      </p:sp>
      <p:sp>
        <p:nvSpPr>
          <p:cNvPr id="15" name="Shape 12"/>
          <p:cNvSpPr/>
          <p:nvPr/>
        </p:nvSpPr>
        <p:spPr>
          <a:xfrm>
            <a:off x="3063240" y="5503435"/>
            <a:ext cx="1508760" cy="347472"/>
          </a:xfrm>
          <a:prstGeom prst="roundRect">
            <a:avLst>
              <a:gd name="adj" fmla="val 21053"/>
            </a:avLst>
          </a:prstGeom>
          <a:solidFill>
            <a:srgbClr val="282E66"/>
          </a:solidFill>
          <a:ln w="12700">
            <a:solidFill>
              <a:srgbClr val="282E66"/>
            </a:solidFill>
            <a:prstDash val="solid"/>
          </a:ln>
        </p:spPr>
        <p:txBody>
          <a:bodyPr/>
          <a:lstStyle/>
          <a:p>
            <a:endParaRPr lang="en-US"/>
          </a:p>
        </p:txBody>
      </p:sp>
      <p:sp>
        <p:nvSpPr>
          <p:cNvPr id="16" name="Text 13">
            <a:hlinkClick r:id="rId6"/>
          </p:cNvPr>
          <p:cNvSpPr/>
          <p:nvPr/>
        </p:nvSpPr>
        <p:spPr>
          <a:xfrm>
            <a:off x="3191256" y="5576587"/>
            <a:ext cx="1252728" cy="164592"/>
          </a:xfrm>
          <a:prstGeom prst="rect">
            <a:avLst/>
          </a:prstGeom>
          <a:noFill/>
          <a:ln/>
        </p:spPr>
        <p:txBody>
          <a:bodyPr wrap="square" lIns="0" tIns="0" rIns="0" bIns="0" rtlCol="0" anchor="ctr"/>
          <a:lstStyle/>
          <a:p>
            <a:pPr marL="0" indent="0" algn="ctr">
              <a:buNone/>
            </a:pPr>
            <a:r>
              <a:rPr lang="en-US" sz="850" b="1" kern="0" spc="110" dirty="0">
                <a:solidFill>
                  <a:srgbClr val="F8FBFF"/>
                </a:solidFill>
                <a:latin typeface="Carlito" pitchFamily="34" charset="0"/>
                <a:ea typeface="Carlito" pitchFamily="34" charset="-122"/>
                <a:cs typeface="Carlito" pitchFamily="34" charset="-120"/>
              </a:rPr>
              <a:t>WORKSHOP REPO</a:t>
            </a:r>
            <a:endParaRPr lang="en-US" sz="850" dirty="0"/>
          </a:p>
        </p:txBody>
      </p:sp>
      <p:sp>
        <p:nvSpPr>
          <p:cNvPr id="17" name="Shape 14"/>
          <p:cNvSpPr/>
          <p:nvPr/>
        </p:nvSpPr>
        <p:spPr>
          <a:xfrm>
            <a:off x="4800600" y="5503435"/>
            <a:ext cx="1508760" cy="347472"/>
          </a:xfrm>
          <a:prstGeom prst="roundRect">
            <a:avLst>
              <a:gd name="adj" fmla="val 21053"/>
            </a:avLst>
          </a:prstGeom>
          <a:solidFill>
            <a:srgbClr val="282E66"/>
          </a:solidFill>
          <a:ln w="12700">
            <a:solidFill>
              <a:srgbClr val="282E66"/>
            </a:solidFill>
            <a:prstDash val="solid"/>
          </a:ln>
        </p:spPr>
        <p:txBody>
          <a:bodyPr/>
          <a:lstStyle/>
          <a:p>
            <a:endParaRPr lang="en-US"/>
          </a:p>
        </p:txBody>
      </p:sp>
      <p:sp>
        <p:nvSpPr>
          <p:cNvPr id="18" name="Text 15">
            <a:hlinkClick r:id="rId4"/>
          </p:cNvPr>
          <p:cNvSpPr/>
          <p:nvPr/>
        </p:nvSpPr>
        <p:spPr>
          <a:xfrm>
            <a:off x="4928616" y="5576587"/>
            <a:ext cx="1252728" cy="164592"/>
          </a:xfrm>
          <a:prstGeom prst="rect">
            <a:avLst/>
          </a:prstGeom>
          <a:noFill/>
          <a:ln/>
        </p:spPr>
        <p:txBody>
          <a:bodyPr wrap="square" lIns="0" tIns="0" rIns="0" bIns="0" rtlCol="0" anchor="ctr"/>
          <a:lstStyle/>
          <a:p>
            <a:pPr marL="0" indent="0" algn="ctr">
              <a:buNone/>
            </a:pPr>
            <a:r>
              <a:rPr lang="en-US" sz="850" b="1" kern="0" spc="110">
                <a:solidFill>
                  <a:srgbClr val="F8FBFF"/>
                </a:solidFill>
                <a:latin typeface="Carlito" pitchFamily="34" charset="0"/>
                <a:ea typeface="Carlito" pitchFamily="34" charset="-122"/>
                <a:cs typeface="Carlito" pitchFamily="34" charset="-120"/>
              </a:rPr>
              <a:t>OPEN THE COURSE</a:t>
            </a:r>
            <a:endParaRPr lang="en-US" sz="850" dirty="0"/>
          </a:p>
        </p:txBody>
      </p:sp>
      <p:pic>
        <p:nvPicPr>
          <p:cNvPr id="19" name="Image 1" descr="/mnt/data/bengaluru_skyline_in_cyan_line_art.png"/>
          <p:cNvPicPr>
            <a:picLocks noChangeAspect="1"/>
          </p:cNvPicPr>
          <p:nvPr/>
        </p:nvPicPr>
        <p:blipFill>
          <a:blip r:embed="rId7">
            <a:alphaModFix amt="55000"/>
          </a:blip>
          <a:stretch>
            <a:fillRect/>
          </a:stretch>
        </p:blipFill>
        <p:spPr>
          <a:xfrm>
            <a:off x="7592862" y="5230368"/>
            <a:ext cx="3422315" cy="1143000"/>
          </a:xfrm>
          <a:prstGeom prst="rect">
            <a:avLst/>
          </a:prstGeom>
        </p:spPr>
      </p:pic>
      <p:sp>
        <p:nvSpPr>
          <p:cNvPr id="25" name="Slide Number Placeholder 0"/>
          <p:cNvSpPr>
            <a:spLocks noGrp="1"/>
          </p:cNvSpPr>
          <p:nvPr>
            <p:ph type="sldNum" sz="quarter" idx="4294967295"/>
          </p:nvPr>
        </p:nvSpPr>
        <p:spPr>
          <a:xfrm>
            <a:off x="11777472" y="6455664"/>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AAB7D8"/>
                </a:solidFill>
                <a:latin typeface="Carlito"/>
                <a:ea typeface="Carlito"/>
                <a:cs typeface="Carlito"/>
              </a:defRPr>
            </a:lvl1pPr>
          </a:lstStyle>
          <a:p>
            <a:pPr algn="l"/>
            <a:r>
              <a:rPr lang="en-US" b="0"/>
              <a:t>7</a:t>
            </a:r>
            <a:endParaRPr lang="en-US"/>
          </a:p>
        </p:txBody>
      </p:sp>
      <p:sp>
        <p:nvSpPr>
          <p:cNvPr id="21" name="Text 10">
            <a:extLst>
              <a:ext uri="{FF2B5EF4-FFF2-40B4-BE49-F238E27FC236}">
                <a16:creationId xmlns:a16="http://schemas.microsoft.com/office/drawing/2014/main" id="{883C520C-A0AD-BFA4-7F8F-278905E103BE}"/>
              </a:ext>
            </a:extLst>
          </p:cNvPr>
          <p:cNvSpPr/>
          <p:nvPr/>
        </p:nvSpPr>
        <p:spPr>
          <a:xfrm>
            <a:off x="3044952" y="4462451"/>
            <a:ext cx="5943600" cy="365760"/>
          </a:xfrm>
          <a:prstGeom prst="rect">
            <a:avLst/>
          </a:prstGeom>
          <a:noFill/>
          <a:ln/>
        </p:spPr>
        <p:txBody>
          <a:bodyPr wrap="square" lIns="0" tIns="0" rIns="0" bIns="0" rtlCol="0" anchor="ctr"/>
          <a:lstStyle/>
          <a:p>
            <a:pPr marL="0" indent="0">
              <a:buNone/>
            </a:pPr>
            <a:r>
              <a:rPr lang="en-US" sz="2000" b="1" dirty="0">
                <a:solidFill>
                  <a:srgbClr val="F8FBFF"/>
                </a:solidFill>
                <a:latin typeface="Carlito" pitchFamily="34" charset="0"/>
                <a:ea typeface="Carlito" pitchFamily="34" charset="-122"/>
                <a:cs typeface="Carlito" pitchFamily="34" charset="-120"/>
              </a:rPr>
              <a:t>Microsoft Foundry Discord Community</a:t>
            </a:r>
            <a:endParaRPr lang="en-US" sz="2000" dirty="0"/>
          </a:p>
        </p:txBody>
      </p:sp>
      <p:sp>
        <p:nvSpPr>
          <p:cNvPr id="23" name="Text 11">
            <a:hlinkClick r:id="rId5"/>
            <a:extLst>
              <a:ext uri="{FF2B5EF4-FFF2-40B4-BE49-F238E27FC236}">
                <a16:creationId xmlns:a16="http://schemas.microsoft.com/office/drawing/2014/main" id="{E9F90014-9E99-B9DD-F64E-3F7C8B999C74}"/>
              </a:ext>
            </a:extLst>
          </p:cNvPr>
          <p:cNvSpPr/>
          <p:nvPr/>
        </p:nvSpPr>
        <p:spPr>
          <a:xfrm>
            <a:off x="3044952" y="4919651"/>
            <a:ext cx="4114800" cy="274320"/>
          </a:xfrm>
          <a:prstGeom prst="rect">
            <a:avLst/>
          </a:prstGeom>
          <a:noFill/>
          <a:ln/>
        </p:spPr>
        <p:txBody>
          <a:bodyPr wrap="square" lIns="0" tIns="0" rIns="0" bIns="0" rtlCol="0" anchor="ctr"/>
          <a:lstStyle/>
          <a:p>
            <a:pPr marL="0" indent="0">
              <a:buNone/>
            </a:pPr>
            <a:r>
              <a:rPr lang="en-US" sz="1300" dirty="0">
                <a:solidFill>
                  <a:srgbClr val="AAB7D8"/>
                </a:solidFill>
                <a:latin typeface="Carlito" pitchFamily="34" charset="0"/>
                <a:ea typeface="Carlito" pitchFamily="34" charset="-122"/>
              </a:rPr>
              <a:t>aka.ms/foundry/discord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rli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rli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1173</TotalTime>
  <Words>1334</Words>
  <Application>Microsoft Office PowerPoint</Application>
  <PresentationFormat>Widescreen</PresentationFormat>
  <Paragraphs>155</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Carlito</vt:lpstr>
      <vt:lpstr>Courier New</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MCP Community Connect Bengaluru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MCP Community Connect Bengaluru — Speaker Deck Template</dc:title>
  <dc:subject>MCP Community Connect Bengaluru Speaker Deck Template</dc:subject>
  <dc:creator>OpenAI</dc:creator>
  <cp:lastModifiedBy>Lee Stott</cp:lastModifiedBy>
  <cp:revision>8</cp:revision>
  <dcterms:created xsi:type="dcterms:W3CDTF">2026-09-18T05:21:26Z</dcterms:created>
  <dcterms:modified xsi:type="dcterms:W3CDTF">2026-09-27T01:36:06Z</dcterms:modified>
</cp:coreProperties>
</file>